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1"/>
  </p:sldMasterIdLst>
  <p:notesMasterIdLst>
    <p:notesMasterId r:id="rId27"/>
  </p:notesMasterIdLst>
  <p:sldIdLst>
    <p:sldId id="256" r:id="rId2"/>
    <p:sldId id="258" r:id="rId3"/>
    <p:sldId id="259" r:id="rId4"/>
    <p:sldId id="260" r:id="rId5"/>
    <p:sldId id="262" r:id="rId6"/>
    <p:sldId id="264" r:id="rId7"/>
    <p:sldId id="266" r:id="rId8"/>
    <p:sldId id="269" r:id="rId9"/>
    <p:sldId id="267" r:id="rId10"/>
    <p:sldId id="268" r:id="rId11"/>
    <p:sldId id="272" r:id="rId12"/>
    <p:sldId id="281" r:id="rId13"/>
    <p:sldId id="282" r:id="rId14"/>
    <p:sldId id="283" r:id="rId15"/>
    <p:sldId id="265" r:id="rId16"/>
    <p:sldId id="284" r:id="rId17"/>
    <p:sldId id="285" r:id="rId18"/>
    <p:sldId id="271" r:id="rId19"/>
    <p:sldId id="276" r:id="rId20"/>
    <p:sldId id="274" r:id="rId21"/>
    <p:sldId id="286" r:id="rId22"/>
    <p:sldId id="277" r:id="rId23"/>
    <p:sldId id="278" r:id="rId24"/>
    <p:sldId id="280" r:id="rId25"/>
    <p:sldId id="27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291" autoAdjust="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95059C-C089-412E-8C1F-78E02666C583}" type="datetimeFigureOut">
              <a:rPr lang="en-IN" smtClean="0"/>
              <a:t>12-11-2024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7F3FC9-0B4A-4379-9DC4-E2AC49F175AC}" type="slidenum">
              <a:rPr lang="en-IN" smtClean="0"/>
              <a:t>‹#›</a:t>
            </a:fld>
            <a:endParaRPr lang="en-IN"/>
          </a:p>
        </p:txBody>
      </p:sp>
    </p:spTree>
    <p:extLst>
      <p:ext uri="{BB962C8B-B14F-4D97-AF65-F5344CB8AC3E}">
        <p14:creationId xmlns:p14="http://schemas.microsoft.com/office/powerpoint/2010/main" val="2215971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1568B46-A907-4B60-944D-E556D29F03C4}" type="datetimeFigureOut">
              <a:rPr lang="en-IN" smtClean="0"/>
              <a:t>12-11-2024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652413-84C4-4F1E-84D6-EBC6DC15BC11}"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2972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568B46-A907-4B60-944D-E556D29F03C4}" type="datetimeFigureOut">
              <a:rPr lang="en-IN" smtClean="0"/>
              <a:t>12-11-2024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652413-84C4-4F1E-84D6-EBC6DC15BC11}" type="slidenum">
              <a:rPr lang="en-IN" smtClean="0"/>
              <a:t>‹#›</a:t>
            </a:fld>
            <a:endParaRPr lang="en-IN"/>
          </a:p>
        </p:txBody>
      </p:sp>
    </p:spTree>
    <p:extLst>
      <p:ext uri="{BB962C8B-B14F-4D97-AF65-F5344CB8AC3E}">
        <p14:creationId xmlns:p14="http://schemas.microsoft.com/office/powerpoint/2010/main" val="589083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568B46-A907-4B60-944D-E556D29F03C4}" type="datetimeFigureOut">
              <a:rPr lang="en-IN" smtClean="0"/>
              <a:t>12-11-2024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652413-84C4-4F1E-84D6-EBC6DC15BC11}"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6442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1568B46-A907-4B60-944D-E556D29F03C4}" type="datetimeFigureOut">
              <a:rPr lang="en-IN" smtClean="0"/>
              <a:t>12-11-2024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652413-84C4-4F1E-84D6-EBC6DC15BC11}" type="slidenum">
              <a:rPr lang="en-IN" smtClean="0"/>
              <a:t>‹#›</a:t>
            </a:fld>
            <a:endParaRPr lang="en-IN"/>
          </a:p>
        </p:txBody>
      </p:sp>
    </p:spTree>
    <p:extLst>
      <p:ext uri="{BB962C8B-B14F-4D97-AF65-F5344CB8AC3E}">
        <p14:creationId xmlns:p14="http://schemas.microsoft.com/office/powerpoint/2010/main" val="4170677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568B46-A907-4B60-944D-E556D29F03C4}" type="datetimeFigureOut">
              <a:rPr lang="en-IN" smtClean="0"/>
              <a:t>12-11-2024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2652413-84C4-4F1E-84D6-EBC6DC15BC11}" type="slidenum">
              <a:rPr lang="en-IN" smtClean="0"/>
              <a:t>‹#›</a:t>
            </a:fld>
            <a:endParaRPr lang="en-IN"/>
          </a:p>
        </p:txBody>
      </p:sp>
    </p:spTree>
    <p:extLst>
      <p:ext uri="{BB962C8B-B14F-4D97-AF65-F5344CB8AC3E}">
        <p14:creationId xmlns:p14="http://schemas.microsoft.com/office/powerpoint/2010/main" val="734680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1568B46-A907-4B60-944D-E556D29F03C4}" type="datetimeFigureOut">
              <a:rPr lang="en-IN" smtClean="0"/>
              <a:t>12-11-2024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2652413-84C4-4F1E-84D6-EBC6DC15BC11}" type="slidenum">
              <a:rPr lang="en-IN" smtClean="0"/>
              <a:t>‹#›</a:t>
            </a:fld>
            <a:endParaRPr lang="en-IN"/>
          </a:p>
        </p:txBody>
      </p:sp>
    </p:spTree>
    <p:extLst>
      <p:ext uri="{BB962C8B-B14F-4D97-AF65-F5344CB8AC3E}">
        <p14:creationId xmlns:p14="http://schemas.microsoft.com/office/powerpoint/2010/main" val="508986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1568B46-A907-4B60-944D-E556D29F03C4}" type="datetimeFigureOut">
              <a:rPr lang="en-IN" smtClean="0"/>
              <a:t>12-11-2024</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F2652413-84C4-4F1E-84D6-EBC6DC15BC11}" type="slidenum">
              <a:rPr lang="en-IN" smtClean="0"/>
              <a:t>‹#›</a:t>
            </a:fld>
            <a:endParaRPr lang="en-IN"/>
          </a:p>
        </p:txBody>
      </p:sp>
    </p:spTree>
    <p:extLst>
      <p:ext uri="{BB962C8B-B14F-4D97-AF65-F5344CB8AC3E}">
        <p14:creationId xmlns:p14="http://schemas.microsoft.com/office/powerpoint/2010/main" val="2817720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1568B46-A907-4B60-944D-E556D29F03C4}" type="datetimeFigureOut">
              <a:rPr lang="en-IN" smtClean="0"/>
              <a:t>12-11-2024</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2652413-84C4-4F1E-84D6-EBC6DC15BC11}" type="slidenum">
              <a:rPr lang="en-IN" smtClean="0"/>
              <a:t>‹#›</a:t>
            </a:fld>
            <a:endParaRPr lang="en-IN"/>
          </a:p>
        </p:txBody>
      </p:sp>
    </p:spTree>
    <p:extLst>
      <p:ext uri="{BB962C8B-B14F-4D97-AF65-F5344CB8AC3E}">
        <p14:creationId xmlns:p14="http://schemas.microsoft.com/office/powerpoint/2010/main" val="212527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568B46-A907-4B60-944D-E556D29F03C4}" type="datetimeFigureOut">
              <a:rPr lang="en-IN" smtClean="0"/>
              <a:t>12-11-2024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652413-84C4-4F1E-84D6-EBC6DC15BC11}" type="slidenum">
              <a:rPr lang="en-IN" smtClean="0"/>
              <a:t>‹#›</a:t>
            </a:fld>
            <a:endParaRPr lang="en-IN"/>
          </a:p>
        </p:txBody>
      </p:sp>
    </p:spTree>
    <p:extLst>
      <p:ext uri="{BB962C8B-B14F-4D97-AF65-F5344CB8AC3E}">
        <p14:creationId xmlns:p14="http://schemas.microsoft.com/office/powerpoint/2010/main" val="1159247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568B46-A907-4B60-944D-E556D29F03C4}" type="datetimeFigureOut">
              <a:rPr lang="en-IN" smtClean="0"/>
              <a:t>12-11-2024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652413-84C4-4F1E-84D6-EBC6DC15BC11}" type="slidenum">
              <a:rPr lang="en-IN" smtClean="0"/>
              <a:t>‹#›</a:t>
            </a:fld>
            <a:endParaRPr lang="en-IN"/>
          </a:p>
        </p:txBody>
      </p:sp>
    </p:spTree>
    <p:extLst>
      <p:ext uri="{BB962C8B-B14F-4D97-AF65-F5344CB8AC3E}">
        <p14:creationId xmlns:p14="http://schemas.microsoft.com/office/powerpoint/2010/main" val="2790114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568B46-A907-4B60-944D-E556D29F03C4}" type="datetimeFigureOut">
              <a:rPr lang="en-IN" smtClean="0"/>
              <a:t>12-11-2024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652413-84C4-4F1E-84D6-EBC6DC15BC11}" type="slidenum">
              <a:rPr lang="en-IN" smtClean="0"/>
              <a:t>‹#›</a:t>
            </a:fld>
            <a:endParaRPr lang="en-IN"/>
          </a:p>
        </p:txBody>
      </p:sp>
    </p:spTree>
    <p:extLst>
      <p:ext uri="{BB962C8B-B14F-4D97-AF65-F5344CB8AC3E}">
        <p14:creationId xmlns:p14="http://schemas.microsoft.com/office/powerpoint/2010/main" val="2427899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1568B46-A907-4B60-944D-E556D29F03C4}" type="datetimeFigureOut">
              <a:rPr lang="en-IN" smtClean="0"/>
              <a:t>12-11-2024</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2652413-84C4-4F1E-84D6-EBC6DC15BC11}"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4886300"/>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svg"/><Relationship Id="rId7" Type="http://schemas.openxmlformats.org/officeDocument/2006/relationships/image" Target="../media/image27.sv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27C8FB-AE33-16A4-BFF9-1C627D1C3501}"/>
              </a:ext>
            </a:extLst>
          </p:cNvPr>
          <p:cNvSpPr/>
          <p:nvPr/>
        </p:nvSpPr>
        <p:spPr>
          <a:xfrm>
            <a:off x="195618" y="1973838"/>
            <a:ext cx="11800763" cy="1569660"/>
          </a:xfrm>
          <a:prstGeom prst="rect">
            <a:avLst/>
          </a:prstGeom>
          <a:noFill/>
        </p:spPr>
        <p:txBody>
          <a:bodyPr wrap="square" lIns="91440" tIns="45720" rIns="91440" bIns="45720">
            <a:spAutoFit/>
          </a:bodyPr>
          <a:lstStyle/>
          <a:p>
            <a:pPr algn="ctr"/>
            <a:r>
              <a:rPr lang="en-US" sz="48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Categorizing Investment Risk and Deducing Its Implications on Investor Decisions</a:t>
            </a:r>
          </a:p>
        </p:txBody>
      </p:sp>
      <p:sp>
        <p:nvSpPr>
          <p:cNvPr id="3" name="Rectangle 2">
            <a:extLst>
              <a:ext uri="{FF2B5EF4-FFF2-40B4-BE49-F238E27FC236}">
                <a16:creationId xmlns:a16="http://schemas.microsoft.com/office/drawing/2014/main" id="{F583BD29-EA33-6C67-4C20-D28ADC396D99}"/>
              </a:ext>
            </a:extLst>
          </p:cNvPr>
          <p:cNvSpPr/>
          <p:nvPr/>
        </p:nvSpPr>
        <p:spPr>
          <a:xfrm>
            <a:off x="90582" y="5884625"/>
            <a:ext cx="2909772" cy="400110"/>
          </a:xfrm>
          <a:prstGeom prst="rect">
            <a:avLst/>
          </a:prstGeom>
          <a:noFill/>
        </p:spPr>
        <p:txBody>
          <a:bodyPr wrap="squar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Mrunal </a:t>
            </a:r>
            <a:r>
              <a:rPr lang="en-US" sz="2000" b="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Ghadigaonkar</a:t>
            </a:r>
            <a:endParaRPr lang="en-US" sz="2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7D505FAC-31A8-E77F-7A22-5EC837670AEC}"/>
              </a:ext>
            </a:extLst>
          </p:cNvPr>
          <p:cNvSpPr/>
          <p:nvPr/>
        </p:nvSpPr>
        <p:spPr>
          <a:xfrm>
            <a:off x="3397436" y="5884625"/>
            <a:ext cx="1628971" cy="400110"/>
          </a:xfrm>
          <a:prstGeom prst="rect">
            <a:avLst/>
          </a:prstGeom>
          <a:noFill/>
        </p:spPr>
        <p:txBody>
          <a:bodyPr wrap="none" lIns="91440" tIns="45720" rIns="91440" bIns="45720">
            <a:spAutoFit/>
          </a:bodyPr>
          <a:lstStyle/>
          <a:p>
            <a:pPr algn="ctr"/>
            <a:r>
              <a:rPr lang="en-US" sz="2000" b="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Sailee</a:t>
            </a:r>
            <a:r>
              <a:rPr lang="en-US" sz="2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sz="2000" b="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Shedge</a:t>
            </a:r>
            <a:endParaRPr lang="en-US" sz="2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29EE249F-7DB2-9F4E-293A-D7B919010047}"/>
              </a:ext>
            </a:extLst>
          </p:cNvPr>
          <p:cNvSpPr/>
          <p:nvPr/>
        </p:nvSpPr>
        <p:spPr>
          <a:xfrm>
            <a:off x="5503511" y="5884625"/>
            <a:ext cx="1784463"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Grishma Mehta</a:t>
            </a:r>
          </a:p>
        </p:txBody>
      </p:sp>
      <p:sp>
        <p:nvSpPr>
          <p:cNvPr id="7" name="Rectangle 6">
            <a:extLst>
              <a:ext uri="{FF2B5EF4-FFF2-40B4-BE49-F238E27FC236}">
                <a16:creationId xmlns:a16="http://schemas.microsoft.com/office/drawing/2014/main" id="{F266DFDF-09C6-17BC-8492-B02ABC2E358C}"/>
              </a:ext>
            </a:extLst>
          </p:cNvPr>
          <p:cNvSpPr/>
          <p:nvPr/>
        </p:nvSpPr>
        <p:spPr>
          <a:xfrm>
            <a:off x="7770430" y="5884625"/>
            <a:ext cx="1399742" cy="400110"/>
          </a:xfrm>
          <a:prstGeom prst="rect">
            <a:avLst/>
          </a:prstGeom>
          <a:noFill/>
        </p:spPr>
        <p:txBody>
          <a:bodyPr wrap="none" lIns="91440" tIns="45720" rIns="91440" bIns="45720">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Alisha Mali</a:t>
            </a:r>
          </a:p>
        </p:txBody>
      </p:sp>
      <p:sp>
        <p:nvSpPr>
          <p:cNvPr id="9" name="Rectangle 8">
            <a:extLst>
              <a:ext uri="{FF2B5EF4-FFF2-40B4-BE49-F238E27FC236}">
                <a16:creationId xmlns:a16="http://schemas.microsoft.com/office/drawing/2014/main" id="{5B8FFC3E-1973-9BEA-A673-30ABCA4779AE}"/>
              </a:ext>
            </a:extLst>
          </p:cNvPr>
          <p:cNvSpPr/>
          <p:nvPr/>
        </p:nvSpPr>
        <p:spPr>
          <a:xfrm>
            <a:off x="9744598" y="5884625"/>
            <a:ext cx="1699503" cy="400110"/>
          </a:xfrm>
          <a:prstGeom prst="rect">
            <a:avLst/>
          </a:prstGeom>
          <a:noFill/>
        </p:spPr>
        <p:txBody>
          <a:bodyPr wrap="none" lIns="91440" tIns="45720" rIns="91440" bIns="45720">
            <a:spAutoFit/>
          </a:bodyPr>
          <a:lstStyle/>
          <a:p>
            <a:pPr algn="ctr"/>
            <a:r>
              <a:rPr lang="en-US" sz="2000" b="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Prachit</a:t>
            </a:r>
            <a:r>
              <a:rPr lang="en-US" sz="2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sz="2000" b="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Phanse</a:t>
            </a:r>
            <a:endParaRPr lang="en-US" sz="2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1508C4D1-D94A-06CA-1EEF-9BB3FF54BF9E}"/>
              </a:ext>
            </a:extLst>
          </p:cNvPr>
          <p:cNvSpPr/>
          <p:nvPr/>
        </p:nvSpPr>
        <p:spPr>
          <a:xfrm>
            <a:off x="1167800" y="6364732"/>
            <a:ext cx="755335" cy="400110"/>
          </a:xfrm>
          <a:prstGeom prst="rect">
            <a:avLst/>
          </a:prstGeom>
          <a:noFill/>
        </p:spPr>
        <p:txBody>
          <a:bodyPr wrap="none" lIns="91440" tIns="45720" rIns="91440" bIns="45720">
            <a:spAutoFit/>
          </a:bodyPr>
          <a:lstStyle/>
          <a:p>
            <a:pPr algn="ctr"/>
            <a:r>
              <a:rPr lang="en-US" sz="2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A005</a:t>
            </a:r>
            <a:endParaRPr lang="en-US" sz="2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9B8CA89B-911F-A18A-30BE-D8FE4B59D2D6}"/>
              </a:ext>
            </a:extLst>
          </p:cNvPr>
          <p:cNvSpPr/>
          <p:nvPr/>
        </p:nvSpPr>
        <p:spPr>
          <a:xfrm>
            <a:off x="3834253" y="6354189"/>
            <a:ext cx="755335" cy="400110"/>
          </a:xfrm>
          <a:prstGeom prst="rect">
            <a:avLst/>
          </a:prstGeom>
          <a:noFill/>
        </p:spPr>
        <p:txBody>
          <a:bodyPr wrap="none" lIns="91440" tIns="45720" rIns="91440" bIns="45720">
            <a:spAutoFit/>
          </a:bodyPr>
          <a:lstStyle/>
          <a:p>
            <a:pPr algn="ctr"/>
            <a:r>
              <a:rPr lang="en-US" sz="2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A006</a:t>
            </a:r>
            <a:endParaRPr lang="en-US" sz="2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9644649E-32EF-4033-DC51-34E647A23C26}"/>
              </a:ext>
            </a:extLst>
          </p:cNvPr>
          <p:cNvSpPr/>
          <p:nvPr/>
        </p:nvSpPr>
        <p:spPr>
          <a:xfrm>
            <a:off x="6018076" y="6354189"/>
            <a:ext cx="755335" cy="400110"/>
          </a:xfrm>
          <a:prstGeom prst="rect">
            <a:avLst/>
          </a:prstGeom>
          <a:noFill/>
        </p:spPr>
        <p:txBody>
          <a:bodyPr wrap="none" lIns="91440" tIns="45720" rIns="91440" bIns="45720">
            <a:spAutoFit/>
          </a:bodyPr>
          <a:lstStyle/>
          <a:p>
            <a:pPr algn="ctr"/>
            <a:r>
              <a:rPr lang="en-US" sz="2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A007</a:t>
            </a:r>
            <a:endParaRPr lang="en-US" sz="2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9A66606C-6471-1702-CBC4-AAB1CED11F42}"/>
              </a:ext>
            </a:extLst>
          </p:cNvPr>
          <p:cNvSpPr/>
          <p:nvPr/>
        </p:nvSpPr>
        <p:spPr>
          <a:xfrm>
            <a:off x="8092634" y="6364732"/>
            <a:ext cx="755335" cy="400110"/>
          </a:xfrm>
          <a:prstGeom prst="rect">
            <a:avLst/>
          </a:prstGeom>
          <a:noFill/>
        </p:spPr>
        <p:txBody>
          <a:bodyPr wrap="none" lIns="91440" tIns="45720" rIns="91440" bIns="45720">
            <a:spAutoFit/>
          </a:bodyPr>
          <a:lstStyle/>
          <a:p>
            <a:pPr algn="ctr"/>
            <a:r>
              <a:rPr lang="en-US" sz="2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A008</a:t>
            </a:r>
            <a:endParaRPr lang="en-US" sz="2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59747F67-8AB3-AA06-21C7-F73D45ADA9BD}"/>
              </a:ext>
            </a:extLst>
          </p:cNvPr>
          <p:cNvSpPr/>
          <p:nvPr/>
        </p:nvSpPr>
        <p:spPr>
          <a:xfrm>
            <a:off x="10216683" y="6323412"/>
            <a:ext cx="755335" cy="400110"/>
          </a:xfrm>
          <a:prstGeom prst="rect">
            <a:avLst/>
          </a:prstGeom>
          <a:noFill/>
        </p:spPr>
        <p:txBody>
          <a:bodyPr wrap="none" lIns="91440" tIns="45720" rIns="91440" bIns="45720">
            <a:spAutoFit/>
          </a:bodyPr>
          <a:lstStyle/>
          <a:p>
            <a:pPr algn="ctr"/>
            <a:r>
              <a:rPr lang="en-US" sz="2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A009</a:t>
            </a:r>
            <a:endParaRPr lang="en-US" sz="2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3552968"/>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734CB1-088A-6EC4-8B1E-54E950EEE4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1754" y="0"/>
            <a:ext cx="6388492" cy="6275875"/>
          </a:xfrm>
          <a:prstGeom prst="rect">
            <a:avLst/>
          </a:prstGeom>
          <a:ln>
            <a:noFill/>
          </a:ln>
          <a:effectLst>
            <a:softEdge rad="112500"/>
          </a:effectLst>
        </p:spPr>
      </p:pic>
    </p:spTree>
    <p:extLst>
      <p:ext uri="{BB962C8B-B14F-4D97-AF65-F5344CB8AC3E}">
        <p14:creationId xmlns:p14="http://schemas.microsoft.com/office/powerpoint/2010/main" val="1708182600"/>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14CECC-BB94-7B00-5C59-A599E3E53E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97" y="327702"/>
            <a:ext cx="6117863" cy="5580729"/>
          </a:xfrm>
          <a:prstGeom prst="rect">
            <a:avLst/>
          </a:prstGeom>
        </p:spPr>
      </p:pic>
      <p:pic>
        <p:nvPicPr>
          <p:cNvPr id="9" name="Picture 8">
            <a:extLst>
              <a:ext uri="{FF2B5EF4-FFF2-40B4-BE49-F238E27FC236}">
                <a16:creationId xmlns:a16="http://schemas.microsoft.com/office/drawing/2014/main" id="{AF47BEA0-4925-97DC-075E-6B8BC8DD34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811460"/>
            <a:ext cx="5875606" cy="4802285"/>
          </a:xfrm>
          <a:prstGeom prst="rect">
            <a:avLst/>
          </a:prstGeom>
        </p:spPr>
      </p:pic>
    </p:spTree>
    <p:extLst>
      <p:ext uri="{BB962C8B-B14F-4D97-AF65-F5344CB8AC3E}">
        <p14:creationId xmlns:p14="http://schemas.microsoft.com/office/powerpoint/2010/main" val="252247383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64B5EF-25B6-A71D-C506-BD6D60197DAB}"/>
              </a:ext>
            </a:extLst>
          </p:cNvPr>
          <p:cNvSpPr/>
          <p:nvPr/>
        </p:nvSpPr>
        <p:spPr>
          <a:xfrm>
            <a:off x="281983" y="139730"/>
            <a:ext cx="4726115" cy="707886"/>
          </a:xfrm>
          <a:prstGeom prst="rect">
            <a:avLst/>
          </a:prstGeom>
          <a:noFill/>
        </p:spPr>
        <p:txBody>
          <a:bodyPr wrap="square" lIns="91440" tIns="45720" rIns="91440" bIns="45720">
            <a:spAutoFit/>
          </a:bodyPr>
          <a:lstStyle/>
          <a:p>
            <a:pPr algn="ctr"/>
            <a:r>
              <a:rPr lang="en-US" sz="40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rPr>
              <a:t>Business Objective</a:t>
            </a:r>
          </a:p>
        </p:txBody>
      </p:sp>
      <p:sp>
        <p:nvSpPr>
          <p:cNvPr id="6" name="Rectangle 5">
            <a:extLst>
              <a:ext uri="{FF2B5EF4-FFF2-40B4-BE49-F238E27FC236}">
                <a16:creationId xmlns:a16="http://schemas.microsoft.com/office/drawing/2014/main" id="{6E4C7AFB-BD61-40B0-C502-A063881FD3FD}"/>
              </a:ext>
            </a:extLst>
          </p:cNvPr>
          <p:cNvSpPr/>
          <p:nvPr/>
        </p:nvSpPr>
        <p:spPr>
          <a:xfrm>
            <a:off x="379404" y="847612"/>
            <a:ext cx="4952252" cy="1938992"/>
          </a:xfrm>
          <a:prstGeom prst="rect">
            <a:avLst/>
          </a:prstGeom>
          <a:noFill/>
        </p:spPr>
        <p:txBody>
          <a:bodyPr wrap="square" lIns="91440" tIns="45720" rIns="91440" bIns="45720">
            <a:spAutoFit/>
          </a:bodyPr>
          <a:lstStyle/>
          <a:p>
            <a:pPr marL="342900" indent="-342900">
              <a:buFont typeface="Wingdings" panose="05000000000000000000" pitchFamily="2" charset="2"/>
              <a:buChar char="Ø"/>
            </a:pPr>
            <a:r>
              <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To create a comprehensive credit risk management methodology that enables investors classify companies into three broad risk categories, enabling them to make decisions that minimize their investment risk.</a:t>
            </a:r>
          </a:p>
        </p:txBody>
      </p:sp>
      <p:sp>
        <p:nvSpPr>
          <p:cNvPr id="10" name="TextBox 9">
            <a:extLst>
              <a:ext uri="{FF2B5EF4-FFF2-40B4-BE49-F238E27FC236}">
                <a16:creationId xmlns:a16="http://schemas.microsoft.com/office/drawing/2014/main" id="{A60ED0D6-C5A0-EAE0-CE06-7C2A28A61EFF}"/>
              </a:ext>
            </a:extLst>
          </p:cNvPr>
          <p:cNvSpPr txBox="1"/>
          <p:nvPr/>
        </p:nvSpPr>
        <p:spPr>
          <a:xfrm>
            <a:off x="6096000" y="139728"/>
            <a:ext cx="5411372" cy="707886"/>
          </a:xfrm>
          <a:prstGeom prst="rect">
            <a:avLst/>
          </a:prstGeom>
          <a:noFill/>
        </p:spPr>
        <p:txBody>
          <a:bodyPr wrap="square">
            <a:spAutoFit/>
          </a:bodyPr>
          <a:lstStyle/>
          <a:p>
            <a:pPr algn="ctr"/>
            <a:r>
              <a:rPr lang="en-US" sz="40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Research</a:t>
            </a:r>
            <a:r>
              <a:rPr lang="en-US" sz="40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rPr>
              <a:t> Objective</a:t>
            </a:r>
          </a:p>
        </p:txBody>
      </p:sp>
      <p:sp>
        <p:nvSpPr>
          <p:cNvPr id="12" name="TextBox 11">
            <a:extLst>
              <a:ext uri="{FF2B5EF4-FFF2-40B4-BE49-F238E27FC236}">
                <a16:creationId xmlns:a16="http://schemas.microsoft.com/office/drawing/2014/main" id="{6CEE0244-507A-0CA8-FEC1-BED12F4ACDEB}"/>
              </a:ext>
            </a:extLst>
          </p:cNvPr>
          <p:cNvSpPr txBox="1"/>
          <p:nvPr/>
        </p:nvSpPr>
        <p:spPr>
          <a:xfrm>
            <a:off x="6457070" y="847613"/>
            <a:ext cx="5532543" cy="5016758"/>
          </a:xfrm>
          <a:prstGeom prst="rect">
            <a:avLst/>
          </a:prstGeom>
          <a:noFill/>
        </p:spPr>
        <p:txBody>
          <a:bodyPr wrap="square">
            <a:spAutoFit/>
          </a:bodyPr>
          <a:lstStyle/>
          <a:p>
            <a:pPr marL="342900" indent="-342900">
              <a:buFont typeface="Wingdings" panose="05000000000000000000" pitchFamily="2" charset="2"/>
              <a:buChar char="Ø"/>
            </a:pPr>
            <a:r>
              <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To classify companies based on their default probabilities and identify commonality between companies that provide us minimum risk sectors.</a:t>
            </a:r>
          </a:p>
          <a:p>
            <a:endPar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Determine the long run probability that any given investment ends up in a high risk situation of potential losses.</a:t>
            </a:r>
          </a:p>
          <a:p>
            <a:endPar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Quantify risk by identifying inflection points in a company’s performance.</a:t>
            </a:r>
          </a:p>
          <a:p>
            <a:endPar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Enable investors to make an informed decision as to when to pull out of an investment given speculations of a possible bearish market.</a:t>
            </a:r>
          </a:p>
          <a:p>
            <a:pPr marL="342900" indent="-342900">
              <a:buFont typeface="Wingdings" panose="05000000000000000000" pitchFamily="2" charset="2"/>
              <a:buChar char="Ø"/>
            </a:pPr>
            <a:endPar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0D20AB03-8224-CA4D-4B97-A8ABD6EFB5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9685" y="2786604"/>
            <a:ext cx="4008413" cy="3533107"/>
          </a:xfrm>
          <a:prstGeom prst="rect">
            <a:avLst/>
          </a:prstGeom>
          <a:ln>
            <a:noFill/>
          </a:ln>
          <a:effectLst>
            <a:softEdge rad="112500"/>
          </a:effectLst>
        </p:spPr>
      </p:pic>
    </p:spTree>
    <p:extLst>
      <p:ext uri="{BB962C8B-B14F-4D97-AF65-F5344CB8AC3E}">
        <p14:creationId xmlns:p14="http://schemas.microsoft.com/office/powerpoint/2010/main" val="330239457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p:cTn id="19" dur="500" fill="hold"/>
                                        <p:tgtEl>
                                          <p:spTgt spid="18"/>
                                        </p:tgtEl>
                                        <p:attrNameLst>
                                          <p:attrName>ppt_w</p:attrName>
                                        </p:attrNameLst>
                                      </p:cBhvr>
                                      <p:tavLst>
                                        <p:tav tm="0">
                                          <p:val>
                                            <p:fltVal val="0"/>
                                          </p:val>
                                        </p:tav>
                                        <p:tav tm="100000">
                                          <p:val>
                                            <p:strVal val="#ppt_w"/>
                                          </p:val>
                                        </p:tav>
                                      </p:tavLst>
                                    </p:anim>
                                    <p:anim calcmode="lin" valueType="num">
                                      <p:cBhvr>
                                        <p:cTn id="20" dur="500" fill="hold"/>
                                        <p:tgtEl>
                                          <p:spTgt spid="18"/>
                                        </p:tgtEl>
                                        <p:attrNameLst>
                                          <p:attrName>ppt_h</p:attrName>
                                        </p:attrNameLst>
                                      </p:cBhvr>
                                      <p:tavLst>
                                        <p:tav tm="0">
                                          <p:val>
                                            <p:fltVal val="0"/>
                                          </p:val>
                                        </p:tav>
                                        <p:tav tm="100000">
                                          <p:val>
                                            <p:strVal val="#ppt_h"/>
                                          </p:val>
                                        </p:tav>
                                      </p:tavLst>
                                    </p:anim>
                                    <p:animEffect transition="in" filter="fade">
                                      <p:cBhvr>
                                        <p:cTn id="2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C87A60-22D4-CB7C-D0ED-96B69AC297EA}"/>
              </a:ext>
            </a:extLst>
          </p:cNvPr>
          <p:cNvSpPr/>
          <p:nvPr/>
        </p:nvSpPr>
        <p:spPr>
          <a:xfrm>
            <a:off x="5010605" y="196055"/>
            <a:ext cx="2170787" cy="830997"/>
          </a:xfrm>
          <a:prstGeom prst="rect">
            <a:avLst/>
          </a:prstGeom>
          <a:noFill/>
        </p:spPr>
        <p:txBody>
          <a:bodyPr wrap="none" lIns="91440" tIns="45720" rIns="91440" bIns="45720">
            <a:spAutoFit/>
          </a:bodyPr>
          <a:lstStyle/>
          <a:p>
            <a:pPr algn="ctr"/>
            <a:r>
              <a:rPr lang="en-US" sz="48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Outline</a:t>
            </a:r>
            <a:endParaRPr lang="en-US" sz="48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7FC75A5-3FF7-F9A9-E71C-472422E8FB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5099" y="1027052"/>
            <a:ext cx="9181801" cy="5067060"/>
          </a:xfrm>
          <a:prstGeom prst="rect">
            <a:avLst/>
          </a:prstGeom>
        </p:spPr>
      </p:pic>
    </p:spTree>
    <p:extLst>
      <p:ext uri="{BB962C8B-B14F-4D97-AF65-F5344CB8AC3E}">
        <p14:creationId xmlns:p14="http://schemas.microsoft.com/office/powerpoint/2010/main" val="276206084"/>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AE1AC9-E1DA-6FF2-8135-D17CE92CEAB1}"/>
              </a:ext>
            </a:extLst>
          </p:cNvPr>
          <p:cNvSpPr/>
          <p:nvPr/>
        </p:nvSpPr>
        <p:spPr>
          <a:xfrm>
            <a:off x="4143381" y="10679"/>
            <a:ext cx="3905236" cy="707886"/>
          </a:xfrm>
          <a:prstGeom prst="rect">
            <a:avLst/>
          </a:prstGeom>
          <a:noFill/>
        </p:spPr>
        <p:txBody>
          <a:bodyPr wrap="none" lIns="91440" tIns="45720" rIns="91440" bIns="45720">
            <a:spAutoFit/>
          </a:bodyPr>
          <a:lstStyle/>
          <a:p>
            <a:pPr algn="ctr"/>
            <a:r>
              <a:rPr lang="en-US" sz="40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rPr>
              <a:t>Data </a:t>
            </a:r>
            <a:r>
              <a:rPr lang="en-US" sz="40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Description</a:t>
            </a:r>
            <a:endParaRPr lang="en-US" sz="40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138441E-355D-D14B-17B3-6084311C5C0F}"/>
              </a:ext>
            </a:extLst>
          </p:cNvPr>
          <p:cNvSpPr/>
          <p:nvPr/>
        </p:nvSpPr>
        <p:spPr>
          <a:xfrm>
            <a:off x="767990" y="1012954"/>
            <a:ext cx="2754699" cy="4832092"/>
          </a:xfrm>
          <a:prstGeom prst="rect">
            <a:avLst/>
          </a:prstGeom>
          <a:noFill/>
        </p:spPr>
        <p:txBody>
          <a:bodyPr wrap="square" lIns="91440" tIns="45720" rIns="91440" bIns="45720">
            <a:spAutoFit/>
          </a:bodyPr>
          <a:lstStyle/>
          <a:p>
            <a:pPr marL="342900" indent="-342900">
              <a:buFont typeface="Wingdings" panose="05000000000000000000" pitchFamily="2" charset="2"/>
              <a:buChar char="Ø"/>
            </a:pP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Data Scope: Yearly financial data from 35 public companies across India.</a:t>
            </a:r>
          </a:p>
          <a:p>
            <a:endPar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Data Sources:</a:t>
            </a:r>
          </a:p>
          <a:p>
            <a:pPr marL="342900" indent="-342900">
              <a:buFont typeface="Courier New" panose="02070309020205020404" pitchFamily="49" charset="0"/>
              <a:buChar char="o"/>
            </a:pP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Screener.in</a:t>
            </a:r>
          </a:p>
          <a:p>
            <a:pPr marL="342900" indent="-342900">
              <a:buFont typeface="Courier New" panose="02070309020205020404" pitchFamily="49" charset="0"/>
              <a:buChar char="o"/>
            </a:pP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Investing.com</a:t>
            </a:r>
          </a:p>
          <a:p>
            <a:endPar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Financial data from 2017-2023.</a:t>
            </a:r>
            <a:endParaRPr lang="en-US" sz="24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US" sz="20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8CBF574-4731-03DF-CF1A-1C9B9BBCBE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7025" y="774836"/>
            <a:ext cx="7741641" cy="5063256"/>
          </a:xfrm>
          <a:prstGeom prst="rect">
            <a:avLst/>
          </a:prstGeom>
          <a:ln>
            <a:noFill/>
          </a:ln>
          <a:effectLst>
            <a:softEdge rad="112500"/>
          </a:effectLst>
        </p:spPr>
      </p:pic>
    </p:spTree>
    <p:extLst>
      <p:ext uri="{BB962C8B-B14F-4D97-AF65-F5344CB8AC3E}">
        <p14:creationId xmlns:p14="http://schemas.microsoft.com/office/powerpoint/2010/main" val="2958089307"/>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837BBD-DCE2-2E6F-B9BA-32B67F2FE6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9611" y="239151"/>
            <a:ext cx="7993367" cy="4700100"/>
          </a:xfrm>
          <a:prstGeom prst="rect">
            <a:avLst/>
          </a:prstGeom>
          <a:ln>
            <a:noFill/>
          </a:ln>
          <a:effectLst>
            <a:softEdge rad="112500"/>
          </a:effectLst>
        </p:spPr>
      </p:pic>
      <p:sp>
        <p:nvSpPr>
          <p:cNvPr id="4" name="Rectangle 3">
            <a:extLst>
              <a:ext uri="{FF2B5EF4-FFF2-40B4-BE49-F238E27FC236}">
                <a16:creationId xmlns:a16="http://schemas.microsoft.com/office/drawing/2014/main" id="{C0E333AB-6DA4-EC0C-9A36-12F0CD54CED0}"/>
              </a:ext>
            </a:extLst>
          </p:cNvPr>
          <p:cNvSpPr/>
          <p:nvPr/>
        </p:nvSpPr>
        <p:spPr>
          <a:xfrm>
            <a:off x="285831" y="5063422"/>
            <a:ext cx="11474760" cy="954107"/>
          </a:xfrm>
          <a:prstGeom prst="rect">
            <a:avLst/>
          </a:prstGeom>
          <a:noFill/>
        </p:spPr>
        <p:txBody>
          <a:bodyPr wrap="square" lIns="91440" tIns="45720" rIns="91440" bIns="45720">
            <a:spAutoFit/>
          </a:bodyPr>
          <a:lstStyle/>
          <a:p>
            <a:pPr algn="ctr"/>
            <a:r>
              <a:rPr lang="en-US" sz="28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“Merton’s model uses a company’s cash flow volatility to estimate the probability of default by treating it as a stochastic process.”</a:t>
            </a:r>
          </a:p>
        </p:txBody>
      </p:sp>
    </p:spTree>
    <p:extLst>
      <p:ext uri="{BB962C8B-B14F-4D97-AF65-F5344CB8AC3E}">
        <p14:creationId xmlns:p14="http://schemas.microsoft.com/office/powerpoint/2010/main" val="175901222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A90293-0A60-26FF-4688-7E885D12D9C4}"/>
              </a:ext>
            </a:extLst>
          </p:cNvPr>
          <p:cNvSpPr/>
          <p:nvPr/>
        </p:nvSpPr>
        <p:spPr>
          <a:xfrm>
            <a:off x="4625925" y="89626"/>
            <a:ext cx="2940149" cy="646331"/>
          </a:xfrm>
          <a:prstGeom prst="rect">
            <a:avLst/>
          </a:prstGeom>
          <a:noFill/>
        </p:spPr>
        <p:txBody>
          <a:bodyPr wrap="square" lIns="91440" tIns="45720" rIns="91440" bIns="45720">
            <a:spAutoFit/>
          </a:bodyPr>
          <a:lstStyle/>
          <a:p>
            <a:r>
              <a:rPr lang="en-US" sz="36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rPr>
              <a:t>Assumptions</a:t>
            </a:r>
          </a:p>
        </p:txBody>
      </p:sp>
      <p:sp>
        <p:nvSpPr>
          <p:cNvPr id="3" name="TextBox 2">
            <a:extLst>
              <a:ext uri="{FF2B5EF4-FFF2-40B4-BE49-F238E27FC236}">
                <a16:creationId xmlns:a16="http://schemas.microsoft.com/office/drawing/2014/main" id="{E46F10A9-160D-6FA9-C555-29C8E1F74ECE}"/>
              </a:ext>
            </a:extLst>
          </p:cNvPr>
          <p:cNvSpPr txBox="1"/>
          <p:nvPr/>
        </p:nvSpPr>
        <p:spPr>
          <a:xfrm>
            <a:off x="225084" y="735957"/>
            <a:ext cx="4501661" cy="6494085"/>
          </a:xfrm>
          <a:prstGeom prst="rect">
            <a:avLst/>
          </a:prstGeom>
          <a:noFill/>
        </p:spPr>
        <p:txBody>
          <a:bodyPr wrap="square">
            <a:spAutoFit/>
          </a:bodyPr>
          <a:lstStyle/>
          <a:p>
            <a:pPr marL="342900" indent="-342900">
              <a:buFont typeface="Wingdings" panose="05000000000000000000" pitchFamily="2" charset="2"/>
              <a:buChar char="Ø"/>
            </a:pP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Market is assumed to be frictionless meaning that the value of the company’s asset is equal to the sum of the value of debt obligation and the value of the equity at date t.</a:t>
            </a:r>
          </a:p>
          <a:p>
            <a:endPar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Company cannot pay dividend or issue new debt until the maturity T. </a:t>
            </a:r>
          </a:p>
          <a:p>
            <a:endPar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Default occurs if the company is not able to pay debt holders at maturity.</a:t>
            </a:r>
          </a:p>
          <a:p>
            <a:endPar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endPar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830BB8A-5062-6FA6-F5AC-68BE89772B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7594" y="1183078"/>
            <a:ext cx="6959322" cy="4064171"/>
          </a:xfrm>
          <a:prstGeom prst="rect">
            <a:avLst/>
          </a:prstGeom>
          <a:ln>
            <a:noFill/>
          </a:ln>
          <a:effectLst>
            <a:softEdge rad="112500"/>
          </a:effectLst>
        </p:spPr>
      </p:pic>
    </p:spTree>
    <p:extLst>
      <p:ext uri="{BB962C8B-B14F-4D97-AF65-F5344CB8AC3E}">
        <p14:creationId xmlns:p14="http://schemas.microsoft.com/office/powerpoint/2010/main" val="1543407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DE0A24-62CF-2BD7-74CB-E94161AADA5C}"/>
              </a:ext>
            </a:extLst>
          </p:cNvPr>
          <p:cNvSpPr/>
          <p:nvPr/>
        </p:nvSpPr>
        <p:spPr>
          <a:xfrm>
            <a:off x="4087666" y="65965"/>
            <a:ext cx="3905235" cy="707886"/>
          </a:xfrm>
          <a:prstGeom prst="rect">
            <a:avLst/>
          </a:prstGeom>
          <a:noFill/>
        </p:spPr>
        <p:txBody>
          <a:bodyPr wrap="none" lIns="91440" tIns="45720" rIns="91440" bIns="45720">
            <a:spAutoFit/>
          </a:bodyPr>
          <a:lstStyle/>
          <a:p>
            <a:pPr algn="ctr"/>
            <a:r>
              <a:rPr lang="en-US" sz="40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Model Equation:</a:t>
            </a:r>
            <a:endParaRPr lang="en-US" sz="40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011CA37-09EE-A5D9-B536-1CF7B9D11311}"/>
              </a:ext>
            </a:extLst>
          </p:cNvPr>
          <p:cNvSpPr/>
          <p:nvPr/>
        </p:nvSpPr>
        <p:spPr>
          <a:xfrm>
            <a:off x="4923211" y="969721"/>
            <a:ext cx="2345578" cy="461665"/>
          </a:xfrm>
          <a:prstGeom prst="rect">
            <a:avLst/>
          </a:prstGeom>
          <a:solidFill>
            <a:schemeClr val="accent1">
              <a:lumMod val="20000"/>
              <a:lumOff val="80000"/>
            </a:schemeClr>
          </a:solidFill>
          <a:effectLst>
            <a:glow rad="101600">
              <a:schemeClr val="accent1">
                <a:satMod val="175000"/>
                <a:alpha val="40000"/>
              </a:schemeClr>
            </a:glow>
          </a:effectLst>
        </p:spPr>
        <p:txBody>
          <a:bodyPr wrap="none" lIns="91440" tIns="45720" rIns="91440" bIns="45720">
            <a:spAutoFit/>
          </a:bodyPr>
          <a:lstStyle/>
          <a:p>
            <a:pPr algn="ctr"/>
            <a:r>
              <a:rPr lang="en-US" sz="2400" dirty="0" err="1">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dV</a:t>
            </a: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 </a:t>
            </a:r>
            <a:r>
              <a:rPr lang="en-US" sz="2400" dirty="0" err="1">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Vdt</a:t>
            </a: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 </a:t>
            </a:r>
            <a:r>
              <a:rPr lang="el-GR"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σ</a:t>
            </a:r>
            <a:r>
              <a:rPr lang="en-US" sz="2400" dirty="0" err="1">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Vdz</a:t>
            </a:r>
            <a:endPar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8B68A982-811F-3EF2-DB7D-35EC194833CB}"/>
              </a:ext>
            </a:extLst>
          </p:cNvPr>
          <p:cNvSpPr/>
          <p:nvPr/>
        </p:nvSpPr>
        <p:spPr>
          <a:xfrm>
            <a:off x="1211771" y="1592104"/>
            <a:ext cx="9657023" cy="954107"/>
          </a:xfrm>
          <a:prstGeom prst="rect">
            <a:avLst/>
          </a:prstGeom>
          <a:noFill/>
        </p:spPr>
        <p:txBody>
          <a:bodyPr wrap="square" lIns="91440" tIns="45720" rIns="91440" bIns="45720">
            <a:spAutoFit/>
          </a:bodyPr>
          <a:lstStyle/>
          <a:p>
            <a:pPr algn="ctr"/>
            <a:r>
              <a:rPr lang="en-US" sz="2800" i="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This is the stochastic differential equation for the company’s operating cash flow.</a:t>
            </a:r>
            <a:endParaRPr lang="en-US" sz="28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4EB92D09-F81B-E879-0663-65E611AB0312}"/>
              </a:ext>
            </a:extLst>
          </p:cNvPr>
          <p:cNvSpPr/>
          <p:nvPr/>
        </p:nvSpPr>
        <p:spPr>
          <a:xfrm>
            <a:off x="3539420" y="2608422"/>
            <a:ext cx="5113159" cy="707886"/>
          </a:xfrm>
          <a:prstGeom prst="rect">
            <a:avLst/>
          </a:prstGeom>
          <a:noFill/>
        </p:spPr>
        <p:txBody>
          <a:bodyPr wrap="square" lIns="91440" tIns="45720" rIns="91440" bIns="45720">
            <a:spAutoFit/>
          </a:bodyPr>
          <a:lstStyle/>
          <a:p>
            <a:r>
              <a:rPr lang="en-US" sz="40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rPr>
              <a:t>Probability of Default:</a:t>
            </a:r>
          </a:p>
        </p:txBody>
      </p:sp>
      <p:sp>
        <p:nvSpPr>
          <p:cNvPr id="9" name="Rectangle 8">
            <a:extLst>
              <a:ext uri="{FF2B5EF4-FFF2-40B4-BE49-F238E27FC236}">
                <a16:creationId xmlns:a16="http://schemas.microsoft.com/office/drawing/2014/main" id="{9FD2730B-C7B5-906E-6866-6898F187E5A3}"/>
              </a:ext>
            </a:extLst>
          </p:cNvPr>
          <p:cNvSpPr/>
          <p:nvPr/>
        </p:nvSpPr>
        <p:spPr>
          <a:xfrm>
            <a:off x="4434808" y="3663575"/>
            <a:ext cx="3322384" cy="461665"/>
          </a:xfrm>
          <a:prstGeom prst="rect">
            <a:avLst/>
          </a:prstGeom>
          <a:solidFill>
            <a:schemeClr val="accent1">
              <a:lumMod val="20000"/>
              <a:lumOff val="80000"/>
            </a:schemeClr>
          </a:solidFill>
          <a:effectLst>
            <a:glow rad="101600">
              <a:schemeClr val="accent1">
                <a:satMod val="175000"/>
                <a:alpha val="40000"/>
              </a:schemeClr>
            </a:glow>
          </a:effectLst>
        </p:spPr>
        <p:txBody>
          <a:bodyPr wrap="none" lIns="91440" tIns="45720" rIns="91440" bIns="45720">
            <a:spAutoFit/>
          </a:bodyPr>
          <a:lstStyle/>
          <a:p>
            <a:pPr algn="ct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P ( Vt &lt; C|F ) = 1 - </a:t>
            </a:r>
            <a:r>
              <a:rPr lang="el-GR"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Φ(</a:t>
            </a: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d2)</a:t>
            </a:r>
          </a:p>
        </p:txBody>
      </p:sp>
      <p:sp>
        <p:nvSpPr>
          <p:cNvPr id="10" name="Rectangle 9">
            <a:extLst>
              <a:ext uri="{FF2B5EF4-FFF2-40B4-BE49-F238E27FC236}">
                <a16:creationId xmlns:a16="http://schemas.microsoft.com/office/drawing/2014/main" id="{DBA561D5-4E31-09FB-F6C3-B3EF7E7E7C8F}"/>
              </a:ext>
            </a:extLst>
          </p:cNvPr>
          <p:cNvSpPr/>
          <p:nvPr/>
        </p:nvSpPr>
        <p:spPr>
          <a:xfrm>
            <a:off x="302904" y="4359815"/>
            <a:ext cx="11474760" cy="954107"/>
          </a:xfrm>
          <a:prstGeom prst="rect">
            <a:avLst/>
          </a:prstGeom>
          <a:noFill/>
        </p:spPr>
        <p:txBody>
          <a:bodyPr wrap="square" lIns="91440" tIns="45720" rIns="91440" bIns="45720">
            <a:spAutoFit/>
          </a:bodyPr>
          <a:lstStyle/>
          <a:p>
            <a:pPr algn="ctr"/>
            <a:r>
              <a:rPr lang="en-US" sz="2800" i="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This equation gives the probability that the company's cash flow which will be less than the debt C, indicating a default.</a:t>
            </a:r>
            <a:endParaRPr lang="en-US" sz="28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992989"/>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168773A-26D9-B8BA-FBA1-D167F505EC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17575" y="701830"/>
            <a:ext cx="2333070" cy="5454339"/>
          </a:xfrm>
          <a:prstGeom prst="rect">
            <a:avLst/>
          </a:prstGeom>
        </p:spPr>
      </p:pic>
      <p:sp>
        <p:nvSpPr>
          <p:cNvPr id="10" name="Rectangle 9">
            <a:extLst>
              <a:ext uri="{FF2B5EF4-FFF2-40B4-BE49-F238E27FC236}">
                <a16:creationId xmlns:a16="http://schemas.microsoft.com/office/drawing/2014/main" id="{C0918838-6915-0A9D-25D4-36205FDAEE86}"/>
              </a:ext>
            </a:extLst>
          </p:cNvPr>
          <p:cNvSpPr/>
          <p:nvPr/>
        </p:nvSpPr>
        <p:spPr>
          <a:xfrm>
            <a:off x="1849347" y="55499"/>
            <a:ext cx="7666892" cy="646331"/>
          </a:xfrm>
          <a:prstGeom prst="rect">
            <a:avLst/>
          </a:prstGeom>
          <a:noFill/>
        </p:spPr>
        <p:txBody>
          <a:bodyPr wrap="square" lIns="91440" tIns="45720" rIns="91440" bIns="45720">
            <a:spAutoFit/>
          </a:bodyPr>
          <a:lstStyle/>
          <a:p>
            <a:pPr algn="ctr"/>
            <a:r>
              <a:rPr lang="en-US" sz="36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Present Value of Expected Cash Flow</a:t>
            </a:r>
            <a:endParaRPr lang="en-US" sz="36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F05CC80E-3F06-6CCD-8644-6052E83E73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8043" y="1267191"/>
            <a:ext cx="7517708" cy="4444292"/>
          </a:xfrm>
          <a:prstGeom prst="rect">
            <a:avLst/>
          </a:prstGeom>
        </p:spPr>
      </p:pic>
    </p:spTree>
    <p:extLst>
      <p:ext uri="{BB962C8B-B14F-4D97-AF65-F5344CB8AC3E}">
        <p14:creationId xmlns:p14="http://schemas.microsoft.com/office/powerpoint/2010/main" val="407651556"/>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9831EF7-5F0D-719B-A6D3-7572439FF5C6}"/>
              </a:ext>
            </a:extLst>
          </p:cNvPr>
          <p:cNvSpPr/>
          <p:nvPr/>
        </p:nvSpPr>
        <p:spPr>
          <a:xfrm>
            <a:off x="3567391" y="210694"/>
            <a:ext cx="5057217" cy="707886"/>
          </a:xfrm>
          <a:prstGeom prst="rect">
            <a:avLst/>
          </a:prstGeom>
          <a:noFill/>
        </p:spPr>
        <p:txBody>
          <a:bodyPr wrap="none" lIns="91440" tIns="45720" rIns="91440" bIns="45720">
            <a:spAutoFit/>
          </a:bodyPr>
          <a:lstStyle/>
          <a:p>
            <a:pPr algn="ctr"/>
            <a:r>
              <a:rPr lang="en-US" sz="40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Volatility Calculations</a:t>
            </a:r>
            <a:endParaRPr lang="en-US" sz="40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endParaRPr>
          </a:p>
        </p:txBody>
      </p:sp>
      <p:pic>
        <p:nvPicPr>
          <p:cNvPr id="7170" name="Picture 2" descr="Average Rate of Return Formula ...">
            <a:extLst>
              <a:ext uri="{FF2B5EF4-FFF2-40B4-BE49-F238E27FC236}">
                <a16:creationId xmlns:a16="http://schemas.microsoft.com/office/drawing/2014/main" id="{B1B94E9E-2288-AB8F-8DCA-DDEF240BF5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3150" y="2298383"/>
            <a:ext cx="3947819" cy="203066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1CFC5D1E-1CB4-FEA0-586C-703D3F454C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639" y="1081471"/>
            <a:ext cx="6383807" cy="446449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ectangle 6">
            <a:extLst>
              <a:ext uri="{FF2B5EF4-FFF2-40B4-BE49-F238E27FC236}">
                <a16:creationId xmlns:a16="http://schemas.microsoft.com/office/drawing/2014/main" id="{2F37101B-5591-B14C-7F23-4E916CB925D3}"/>
              </a:ext>
            </a:extLst>
          </p:cNvPr>
          <p:cNvSpPr/>
          <p:nvPr/>
        </p:nvSpPr>
        <p:spPr>
          <a:xfrm>
            <a:off x="1581110" y="5708855"/>
            <a:ext cx="3972561" cy="523220"/>
          </a:xfrm>
          <a:prstGeom prst="rect">
            <a:avLst/>
          </a:prstGeom>
          <a:noFill/>
        </p:spPr>
        <p:txBody>
          <a:bodyPr wrap="none" lIns="91440" tIns="45720" rIns="91440" bIns="45720">
            <a:spAutoFit/>
          </a:bodyPr>
          <a:lstStyle/>
          <a:p>
            <a:pPr algn="ctr"/>
            <a:r>
              <a:rPr lang="en-US" sz="28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Stock price data for PVR  </a:t>
            </a:r>
          </a:p>
        </p:txBody>
      </p:sp>
    </p:spTree>
    <p:extLst>
      <p:ext uri="{BB962C8B-B14F-4D97-AF65-F5344CB8AC3E}">
        <p14:creationId xmlns:p14="http://schemas.microsoft.com/office/powerpoint/2010/main" val="351232734"/>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ADA4FC7-DB1A-4819-0870-3BA16C66488B}"/>
              </a:ext>
            </a:extLst>
          </p:cNvPr>
          <p:cNvSpPr/>
          <p:nvPr/>
        </p:nvSpPr>
        <p:spPr>
          <a:xfrm>
            <a:off x="320412" y="427062"/>
            <a:ext cx="7863628" cy="584775"/>
          </a:xfrm>
          <a:prstGeom prst="rect">
            <a:avLst/>
          </a:prstGeom>
          <a:noFill/>
        </p:spPr>
        <p:txBody>
          <a:bodyPr wrap="none" lIns="91440" tIns="45720" rIns="91440" bIns="45720">
            <a:spAutoFit/>
          </a:bodyPr>
          <a:lstStyle/>
          <a:p>
            <a:pPr algn="ctr"/>
            <a:r>
              <a:rPr lang="en-US" sz="32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Computing Volatility using the formula below:</a:t>
            </a:r>
          </a:p>
        </p:txBody>
      </p:sp>
      <p:pic>
        <p:nvPicPr>
          <p:cNvPr id="7" name="Picture 10" descr="Chapter 13. Form : 4. Compute stock volatility">
            <a:extLst>
              <a:ext uri="{FF2B5EF4-FFF2-40B4-BE49-F238E27FC236}">
                <a16:creationId xmlns:a16="http://schemas.microsoft.com/office/drawing/2014/main" id="{FD531CAE-9FD5-3FB3-1A8E-7C3BE97EB3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9966" y="1404607"/>
            <a:ext cx="3648075" cy="11430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D8268A9-5F69-5056-7E7D-917F366D8F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3521" y="3051570"/>
            <a:ext cx="9259173" cy="237414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59813036"/>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C10DF58-C591-11C1-2891-5E94A74F78CF}"/>
              </a:ext>
            </a:extLst>
          </p:cNvPr>
          <p:cNvSpPr/>
          <p:nvPr/>
        </p:nvSpPr>
        <p:spPr>
          <a:xfrm>
            <a:off x="2558653" y="0"/>
            <a:ext cx="7074694" cy="707886"/>
          </a:xfrm>
          <a:prstGeom prst="rect">
            <a:avLst/>
          </a:prstGeom>
          <a:noFill/>
        </p:spPr>
        <p:txBody>
          <a:bodyPr wrap="none" lIns="91440" tIns="45720" rIns="91440" bIns="45720">
            <a:spAutoFit/>
          </a:bodyPr>
          <a:lstStyle/>
          <a:p>
            <a:pPr algn="ctr"/>
            <a:r>
              <a:rPr lang="en-US" sz="40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rPr>
              <a:t>D</a:t>
            </a:r>
            <a:r>
              <a:rPr lang="en-US" sz="40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efault Probability Calculation</a:t>
            </a:r>
            <a:endParaRPr lang="en-US" sz="40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782E678-EAA3-EE23-4750-2F9F4AD84A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6204" y="781736"/>
            <a:ext cx="10879591" cy="407549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Box 7">
            <a:extLst>
              <a:ext uri="{FF2B5EF4-FFF2-40B4-BE49-F238E27FC236}">
                <a16:creationId xmlns:a16="http://schemas.microsoft.com/office/drawing/2014/main" id="{E0C909E0-86D6-B31F-CAD4-BBFB499EF028}"/>
              </a:ext>
            </a:extLst>
          </p:cNvPr>
          <p:cNvSpPr txBox="1"/>
          <p:nvPr/>
        </p:nvSpPr>
        <p:spPr>
          <a:xfrm>
            <a:off x="124071" y="4942717"/>
            <a:ext cx="3178181" cy="1323439"/>
          </a:xfrm>
          <a:prstGeom prst="rect">
            <a:avLst/>
          </a:prstGeom>
          <a:noFill/>
        </p:spPr>
        <p:txBody>
          <a:bodyPr wrap="square">
            <a:spAutoFit/>
          </a:bodyPr>
          <a:lstStyle/>
          <a:p>
            <a:pPr marL="342900" indent="-342900">
              <a:buFont typeface="Wingdings" panose="05000000000000000000" pitchFamily="2" charset="2"/>
              <a:buChar char="Ø"/>
            </a:pPr>
            <a:r>
              <a:rPr lang="en-US" sz="2000" dirty="0" err="1">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asset_value</a:t>
            </a:r>
            <a:r>
              <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 netblock + CWIP+ Investments + </a:t>
            </a:r>
            <a:r>
              <a:rPr lang="en-US" sz="2000" dirty="0" err="1">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otherassets</a:t>
            </a:r>
            <a:r>
              <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 Receivables + Inventory + Cash</a:t>
            </a:r>
          </a:p>
        </p:txBody>
      </p:sp>
      <p:sp>
        <p:nvSpPr>
          <p:cNvPr id="9" name="TextBox 8">
            <a:extLst>
              <a:ext uri="{FF2B5EF4-FFF2-40B4-BE49-F238E27FC236}">
                <a16:creationId xmlns:a16="http://schemas.microsoft.com/office/drawing/2014/main" id="{65BEFEF1-6737-B4BF-7C1D-79D6E341C1FB}"/>
              </a:ext>
            </a:extLst>
          </p:cNvPr>
          <p:cNvSpPr txBox="1"/>
          <p:nvPr/>
        </p:nvSpPr>
        <p:spPr>
          <a:xfrm>
            <a:off x="3412255" y="4942717"/>
            <a:ext cx="2128965" cy="1015663"/>
          </a:xfrm>
          <a:prstGeom prst="rect">
            <a:avLst/>
          </a:prstGeom>
          <a:noFill/>
        </p:spPr>
        <p:txBody>
          <a:bodyPr wrap="square">
            <a:spAutoFit/>
          </a:bodyPr>
          <a:lstStyle/>
          <a:p>
            <a:pPr marL="342900" indent="-342900">
              <a:buFont typeface="Wingdings" panose="05000000000000000000" pitchFamily="2" charset="2"/>
              <a:buChar char="Ø"/>
            </a:pPr>
            <a:r>
              <a:rPr lang="en-US" sz="2000" dirty="0" err="1">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debt_value</a:t>
            </a:r>
            <a:r>
              <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 Borrowings + other liabilities</a:t>
            </a:r>
          </a:p>
        </p:txBody>
      </p:sp>
      <p:sp>
        <p:nvSpPr>
          <p:cNvPr id="10" name="TextBox 9">
            <a:extLst>
              <a:ext uri="{FF2B5EF4-FFF2-40B4-BE49-F238E27FC236}">
                <a16:creationId xmlns:a16="http://schemas.microsoft.com/office/drawing/2014/main" id="{D4CCFDD1-0087-1910-3F68-6BA2FEECF7AD}"/>
              </a:ext>
            </a:extLst>
          </p:cNvPr>
          <p:cNvSpPr txBox="1"/>
          <p:nvPr/>
        </p:nvSpPr>
        <p:spPr>
          <a:xfrm>
            <a:off x="5541220" y="4931079"/>
            <a:ext cx="3782587" cy="1323439"/>
          </a:xfrm>
          <a:prstGeom prst="rect">
            <a:avLst/>
          </a:prstGeom>
          <a:noFill/>
        </p:spPr>
        <p:txBody>
          <a:bodyPr wrap="square">
            <a:spAutoFit/>
          </a:bodyPr>
          <a:lstStyle/>
          <a:p>
            <a:pPr marL="342900" indent="-342900">
              <a:buFont typeface="Wingdings" panose="05000000000000000000" pitchFamily="2" charset="2"/>
              <a:buChar char="Ø"/>
            </a:pPr>
            <a:r>
              <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The risk-free rate represents the return on an investment with zero risk, meaning no chance of default or loss of principal. </a:t>
            </a:r>
          </a:p>
        </p:txBody>
      </p:sp>
      <p:sp>
        <p:nvSpPr>
          <p:cNvPr id="11" name="TextBox 10">
            <a:extLst>
              <a:ext uri="{FF2B5EF4-FFF2-40B4-BE49-F238E27FC236}">
                <a16:creationId xmlns:a16="http://schemas.microsoft.com/office/drawing/2014/main" id="{9BBB582F-70C5-86CC-5753-48EDCA1D1846}"/>
              </a:ext>
            </a:extLst>
          </p:cNvPr>
          <p:cNvSpPr txBox="1"/>
          <p:nvPr/>
        </p:nvSpPr>
        <p:spPr>
          <a:xfrm>
            <a:off x="9323807" y="4931078"/>
            <a:ext cx="2743125" cy="1323439"/>
          </a:xfrm>
          <a:prstGeom prst="rect">
            <a:avLst/>
          </a:prstGeom>
          <a:noFill/>
        </p:spPr>
        <p:txBody>
          <a:bodyPr wrap="square">
            <a:spAutoFit/>
          </a:bodyPr>
          <a:lstStyle/>
          <a:p>
            <a:pPr marL="342900" indent="-342900">
              <a:buFont typeface="Wingdings" panose="05000000000000000000" pitchFamily="2" charset="2"/>
              <a:buChar char="Ø"/>
            </a:pPr>
            <a:r>
              <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The India 10-Year Government Bond currently offers a yield of 6.770%</a:t>
            </a:r>
          </a:p>
        </p:txBody>
      </p:sp>
    </p:spTree>
    <p:extLst>
      <p:ext uri="{BB962C8B-B14F-4D97-AF65-F5344CB8AC3E}">
        <p14:creationId xmlns:p14="http://schemas.microsoft.com/office/powerpoint/2010/main" val="58440573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46E298F-7333-ECB8-2D6E-CB5D4C691BA0}"/>
              </a:ext>
            </a:extLst>
          </p:cNvPr>
          <p:cNvSpPr/>
          <p:nvPr/>
        </p:nvSpPr>
        <p:spPr>
          <a:xfrm>
            <a:off x="1812936" y="238202"/>
            <a:ext cx="8566128"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Output of Default Probability</a:t>
            </a:r>
          </a:p>
        </p:txBody>
      </p:sp>
      <p:sp>
        <p:nvSpPr>
          <p:cNvPr id="9" name="Rectangle 8">
            <a:extLst>
              <a:ext uri="{FF2B5EF4-FFF2-40B4-BE49-F238E27FC236}">
                <a16:creationId xmlns:a16="http://schemas.microsoft.com/office/drawing/2014/main" id="{1670FDDA-BE6C-CBB7-0735-B7E8913E1D93}"/>
              </a:ext>
            </a:extLst>
          </p:cNvPr>
          <p:cNvSpPr/>
          <p:nvPr/>
        </p:nvSpPr>
        <p:spPr>
          <a:xfrm>
            <a:off x="1598615" y="4723544"/>
            <a:ext cx="8994770" cy="646331"/>
          </a:xfrm>
          <a:prstGeom prst="rect">
            <a:avLst/>
          </a:prstGeom>
          <a:noFill/>
        </p:spPr>
        <p:txBody>
          <a:bodyPr wrap="none" lIns="91440" tIns="45720" rIns="91440" bIns="45720">
            <a:spAutoFit/>
          </a:bodyPr>
          <a:lstStyle/>
          <a:p>
            <a:pPr algn="ctr"/>
            <a:r>
              <a:rPr lang="en-US" sz="36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Above procedure is applied to all 35 companies</a:t>
            </a:r>
          </a:p>
        </p:txBody>
      </p:sp>
      <p:pic>
        <p:nvPicPr>
          <p:cNvPr id="10" name="Picture 9">
            <a:extLst>
              <a:ext uri="{FF2B5EF4-FFF2-40B4-BE49-F238E27FC236}">
                <a16:creationId xmlns:a16="http://schemas.microsoft.com/office/drawing/2014/main" id="{379BA661-A129-7D6C-D1AB-4CE4490824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7237" y="1742067"/>
            <a:ext cx="9517526" cy="228420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02641472"/>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EB262B-BD20-C74C-1ADE-3423BA13BBCE}"/>
              </a:ext>
            </a:extLst>
          </p:cNvPr>
          <p:cNvSpPr/>
          <p:nvPr/>
        </p:nvSpPr>
        <p:spPr>
          <a:xfrm>
            <a:off x="3352823" y="201284"/>
            <a:ext cx="5336297" cy="646331"/>
          </a:xfrm>
          <a:prstGeom prst="rect">
            <a:avLst/>
          </a:prstGeom>
          <a:noFill/>
        </p:spPr>
        <p:txBody>
          <a:bodyPr wrap="square" lIns="91440" tIns="45720" rIns="91440" bIns="45720">
            <a:spAutoFit/>
          </a:bodyPr>
          <a:lstStyle/>
          <a:p>
            <a:pPr algn="ctr"/>
            <a:r>
              <a:rPr lang="en-US" sz="36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rPr>
              <a:t>Minsky’s Hypothesis</a:t>
            </a:r>
          </a:p>
        </p:txBody>
      </p:sp>
      <p:sp>
        <p:nvSpPr>
          <p:cNvPr id="3" name="Rectangle 2">
            <a:extLst>
              <a:ext uri="{FF2B5EF4-FFF2-40B4-BE49-F238E27FC236}">
                <a16:creationId xmlns:a16="http://schemas.microsoft.com/office/drawing/2014/main" id="{88F283A4-53F4-8CD4-0F44-BD1C2ED82909}"/>
              </a:ext>
            </a:extLst>
          </p:cNvPr>
          <p:cNvSpPr/>
          <p:nvPr/>
        </p:nvSpPr>
        <p:spPr>
          <a:xfrm>
            <a:off x="0" y="847615"/>
            <a:ext cx="12041945" cy="1384995"/>
          </a:xfrm>
          <a:prstGeom prst="rect">
            <a:avLst/>
          </a:prstGeom>
          <a:noFill/>
        </p:spPr>
        <p:txBody>
          <a:bodyPr wrap="square" lIns="91440" tIns="45720" rIns="91440" bIns="45720">
            <a:spAutoFit/>
          </a:bodyPr>
          <a:lstStyle/>
          <a:p>
            <a:pPr algn="ctr"/>
            <a:r>
              <a:rPr lang="en-US" sz="24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“Minsky's Hypothesis states that firms evolve through three stages of financial stability based on their debt repayment abilities: Hedge, Speculative, and Ponzi finance.” </a:t>
            </a:r>
          </a:p>
          <a:p>
            <a:pPr algn="ctr"/>
            <a:endParaRPr lang="en-US" sz="36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9FB3AC1A-9077-D80D-BBFC-6ADE01AE49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3507" y="1744393"/>
            <a:ext cx="5564986" cy="4529797"/>
          </a:xfrm>
          <a:prstGeom prst="rect">
            <a:avLst/>
          </a:prstGeom>
          <a:ln>
            <a:noFill/>
          </a:ln>
          <a:effectLst>
            <a:softEdge rad="112500"/>
          </a:effectLst>
        </p:spPr>
      </p:pic>
    </p:spTree>
    <p:extLst>
      <p:ext uri="{BB962C8B-B14F-4D97-AF65-F5344CB8AC3E}">
        <p14:creationId xmlns:p14="http://schemas.microsoft.com/office/powerpoint/2010/main" val="290411016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77D73A-F5A5-BDFF-07A2-901E7012FA34}"/>
              </a:ext>
            </a:extLst>
          </p:cNvPr>
          <p:cNvSpPr/>
          <p:nvPr/>
        </p:nvSpPr>
        <p:spPr>
          <a:xfrm>
            <a:off x="353375" y="296424"/>
            <a:ext cx="11091371" cy="923330"/>
          </a:xfrm>
          <a:prstGeom prst="rect">
            <a:avLst/>
          </a:prstGeom>
          <a:noFill/>
        </p:spPr>
        <p:txBody>
          <a:bodyPr wrap="none" lIns="91440" tIns="45720" rIns="91440" bIns="45720">
            <a:spAutoFit/>
          </a:bodyPr>
          <a:lstStyle/>
          <a:p>
            <a:pPr algn="ctr"/>
            <a:r>
              <a:rPr lang="en-US" sz="5400" b="1" dirty="0">
                <a:ln w="22225">
                  <a:solidFill>
                    <a:schemeClr val="accent2"/>
                  </a:solidFill>
                  <a:prstDash val="solid"/>
                </a:ln>
                <a:solidFill>
                  <a:schemeClr val="accent2">
                    <a:lumMod val="40000"/>
                    <a:lumOff val="60000"/>
                  </a:schemeClr>
                </a:solidFill>
              </a:rPr>
              <a:t>Categorizing Companies into 3 Groups</a:t>
            </a:r>
          </a:p>
        </p:txBody>
      </p:sp>
      <p:sp>
        <p:nvSpPr>
          <p:cNvPr id="5" name="Rectangle 4">
            <a:extLst>
              <a:ext uri="{FF2B5EF4-FFF2-40B4-BE49-F238E27FC236}">
                <a16:creationId xmlns:a16="http://schemas.microsoft.com/office/drawing/2014/main" id="{F3453E9D-42B9-CB8A-FAEA-38A63259B5EB}"/>
              </a:ext>
            </a:extLst>
          </p:cNvPr>
          <p:cNvSpPr/>
          <p:nvPr/>
        </p:nvSpPr>
        <p:spPr>
          <a:xfrm>
            <a:off x="2739953" y="1219754"/>
            <a:ext cx="6712094" cy="646331"/>
          </a:xfrm>
          <a:prstGeom prst="rect">
            <a:avLst/>
          </a:prstGeom>
          <a:noFill/>
        </p:spPr>
        <p:txBody>
          <a:bodyPr wrap="none" lIns="91440" tIns="45720" rIns="91440" bIns="45720">
            <a:spAutoFit/>
          </a:bodyPr>
          <a:lstStyle/>
          <a:p>
            <a:pPr algn="ctr"/>
            <a:r>
              <a:rPr lang="en-US" sz="3600" i="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Hedge(H) Speculative(S) Ponzi(P)</a:t>
            </a:r>
            <a:endParaRPr lang="en-US" sz="36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5FCC901-1D52-105A-3719-0090DBC4F9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9755" y="2569190"/>
            <a:ext cx="9832490" cy="28187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04603076"/>
      </p:ext>
    </p:extLst>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3CF6C0E-33CF-A53A-32C2-1A1E1F381B4F}"/>
              </a:ext>
            </a:extLst>
          </p:cNvPr>
          <p:cNvGraphicFramePr>
            <a:graphicFrameLocks noGrp="1"/>
          </p:cNvGraphicFramePr>
          <p:nvPr>
            <p:extLst>
              <p:ext uri="{D42A27DB-BD31-4B8C-83A1-F6EECF244321}">
                <p14:modId xmlns:p14="http://schemas.microsoft.com/office/powerpoint/2010/main" val="88303755"/>
              </p:ext>
            </p:extLst>
          </p:nvPr>
        </p:nvGraphicFramePr>
        <p:xfrm>
          <a:off x="2276276" y="1706856"/>
          <a:ext cx="7639443" cy="2278996"/>
        </p:xfrm>
        <a:graphic>
          <a:graphicData uri="http://schemas.openxmlformats.org/drawingml/2006/table">
            <a:tbl>
              <a:tblPr firstRow="1" bandRow="1">
                <a:tableStyleId>{5C22544A-7EE6-4342-B048-85BDC9FD1C3A}</a:tableStyleId>
              </a:tblPr>
              <a:tblGrid>
                <a:gridCol w="2160812">
                  <a:extLst>
                    <a:ext uri="{9D8B030D-6E8A-4147-A177-3AD203B41FA5}">
                      <a16:colId xmlns:a16="http://schemas.microsoft.com/office/drawing/2014/main" val="3909920557"/>
                    </a:ext>
                  </a:extLst>
                </a:gridCol>
                <a:gridCol w="5478631">
                  <a:extLst>
                    <a:ext uri="{9D8B030D-6E8A-4147-A177-3AD203B41FA5}">
                      <a16:colId xmlns:a16="http://schemas.microsoft.com/office/drawing/2014/main" val="481471139"/>
                    </a:ext>
                  </a:extLst>
                </a:gridCol>
              </a:tblGrid>
              <a:tr h="569749">
                <a:tc>
                  <a:txBody>
                    <a:bodyPr/>
                    <a:lstStyle/>
                    <a:p>
                      <a:pPr algn="ctr"/>
                      <a:r>
                        <a:rPr lang="en-US" sz="2800" dirty="0">
                          <a:latin typeface="Times New Roman" panose="02020603050405020304" pitchFamily="18" charset="0"/>
                          <a:cs typeface="Times New Roman" panose="02020603050405020304" pitchFamily="18" charset="0"/>
                        </a:rPr>
                        <a:t>States</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lgn="ctr"/>
                      <a:r>
                        <a:rPr lang="en-US" sz="2800" dirty="0">
                          <a:latin typeface="Times New Roman" panose="02020603050405020304" pitchFamily="18" charset="0"/>
                          <a:cs typeface="Times New Roman" panose="02020603050405020304" pitchFamily="18" charset="0"/>
                        </a:rPr>
                        <a:t>Inflection Points</a:t>
                      </a:r>
                      <a:endParaRPr lang="en-IN" sz="2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7048072"/>
                  </a:ext>
                </a:extLst>
              </a:tr>
              <a:tr h="569749">
                <a:tc>
                  <a:txBody>
                    <a:bodyPr/>
                    <a:lstStyle/>
                    <a:p>
                      <a:pPr algn="ctr"/>
                      <a:r>
                        <a:rPr lang="en-US" sz="2800" dirty="0">
                          <a:ln>
                            <a:solidFill>
                              <a:schemeClr val="accent1">
                                <a:lumMod val="60000"/>
                                <a:lumOff val="40000"/>
                              </a:schemeClr>
                            </a:solidFill>
                          </a:ln>
                          <a:latin typeface="Times New Roman" panose="02020603050405020304" pitchFamily="18" charset="0"/>
                          <a:cs typeface="Times New Roman" panose="02020603050405020304" pitchFamily="18" charset="0"/>
                        </a:rPr>
                        <a:t>Hedge</a:t>
                      </a:r>
                      <a:endParaRPr lang="en-IN" sz="2800" dirty="0">
                        <a:ln>
                          <a:solidFill>
                            <a:schemeClr val="accent1">
                              <a:lumMod val="60000"/>
                              <a:lumOff val="40000"/>
                            </a:schemeClr>
                          </a:solidFill>
                        </a:ln>
                        <a:latin typeface="Times New Roman" panose="02020603050405020304" pitchFamily="18" charset="0"/>
                        <a:cs typeface="Times New Roman" panose="02020603050405020304" pitchFamily="18" charset="0"/>
                      </a:endParaRPr>
                    </a:p>
                  </a:txBody>
                  <a:tcPr anchor="ctr"/>
                </a:tc>
                <a:tc>
                  <a:txBody>
                    <a:bodyPr/>
                    <a:lstStyle/>
                    <a:p>
                      <a:pPr algn="ctr"/>
                      <a:r>
                        <a:rPr lang="en-IN" sz="2800" dirty="0">
                          <a:ln>
                            <a:solidFill>
                              <a:schemeClr val="accent1">
                                <a:lumMod val="60000"/>
                                <a:lumOff val="40000"/>
                              </a:schemeClr>
                            </a:solidFill>
                          </a:ln>
                          <a:latin typeface="Times New Roman" panose="02020603050405020304" pitchFamily="18" charset="0"/>
                          <a:cs typeface="Times New Roman" panose="02020603050405020304" pitchFamily="18" charset="0"/>
                        </a:rPr>
                        <a:t>1.0507E-33  TO  0.1967</a:t>
                      </a:r>
                    </a:p>
                  </a:txBody>
                  <a:tcPr anchor="ctr"/>
                </a:tc>
                <a:extLst>
                  <a:ext uri="{0D108BD9-81ED-4DB2-BD59-A6C34878D82A}">
                    <a16:rowId xmlns:a16="http://schemas.microsoft.com/office/drawing/2014/main" val="881219051"/>
                  </a:ext>
                </a:extLst>
              </a:tr>
              <a:tr h="569749">
                <a:tc>
                  <a:txBody>
                    <a:bodyPr/>
                    <a:lstStyle/>
                    <a:p>
                      <a:pPr algn="ctr"/>
                      <a:r>
                        <a:rPr lang="en-US" sz="2800" dirty="0">
                          <a:ln>
                            <a:solidFill>
                              <a:schemeClr val="accent1">
                                <a:lumMod val="60000"/>
                                <a:lumOff val="40000"/>
                              </a:schemeClr>
                            </a:solidFill>
                          </a:ln>
                          <a:latin typeface="Times New Roman" panose="02020603050405020304" pitchFamily="18" charset="0"/>
                          <a:cs typeface="Times New Roman" panose="02020603050405020304" pitchFamily="18" charset="0"/>
                        </a:rPr>
                        <a:t>Speculative</a:t>
                      </a:r>
                      <a:endParaRPr lang="en-IN" sz="2800" dirty="0">
                        <a:ln>
                          <a:solidFill>
                            <a:schemeClr val="accent1">
                              <a:lumMod val="60000"/>
                              <a:lumOff val="40000"/>
                            </a:schemeClr>
                          </a:solidFill>
                        </a:ln>
                        <a:latin typeface="Times New Roman" panose="02020603050405020304" pitchFamily="18" charset="0"/>
                        <a:cs typeface="Times New Roman" panose="02020603050405020304" pitchFamily="18" charset="0"/>
                      </a:endParaRPr>
                    </a:p>
                  </a:txBody>
                  <a:tcPr anchor="ctr"/>
                </a:tc>
                <a:tc>
                  <a:txBody>
                    <a:bodyPr/>
                    <a:lstStyle/>
                    <a:p>
                      <a:pPr algn="ctr"/>
                      <a:r>
                        <a:rPr lang="en-IN" sz="2800" dirty="0">
                          <a:ln>
                            <a:solidFill>
                              <a:schemeClr val="accent1">
                                <a:lumMod val="60000"/>
                                <a:lumOff val="40000"/>
                              </a:schemeClr>
                            </a:solidFill>
                          </a:ln>
                          <a:latin typeface="Times New Roman" panose="02020603050405020304" pitchFamily="18" charset="0"/>
                          <a:cs typeface="Times New Roman" panose="02020603050405020304" pitchFamily="18" charset="0"/>
                        </a:rPr>
                        <a:t>0.2694  TO  0.4804</a:t>
                      </a:r>
                    </a:p>
                  </a:txBody>
                  <a:tcPr anchor="ctr"/>
                </a:tc>
                <a:extLst>
                  <a:ext uri="{0D108BD9-81ED-4DB2-BD59-A6C34878D82A}">
                    <a16:rowId xmlns:a16="http://schemas.microsoft.com/office/drawing/2014/main" val="607356009"/>
                  </a:ext>
                </a:extLst>
              </a:tr>
              <a:tr h="569749">
                <a:tc>
                  <a:txBody>
                    <a:bodyPr/>
                    <a:lstStyle/>
                    <a:p>
                      <a:pPr algn="ctr"/>
                      <a:r>
                        <a:rPr lang="en-US" sz="2800" dirty="0">
                          <a:ln>
                            <a:solidFill>
                              <a:schemeClr val="accent1">
                                <a:lumMod val="60000"/>
                                <a:lumOff val="40000"/>
                              </a:schemeClr>
                            </a:solidFill>
                          </a:ln>
                          <a:latin typeface="Times New Roman" panose="02020603050405020304" pitchFamily="18" charset="0"/>
                          <a:cs typeface="Times New Roman" panose="02020603050405020304" pitchFamily="18" charset="0"/>
                        </a:rPr>
                        <a:t>Ponzi</a:t>
                      </a:r>
                      <a:endParaRPr lang="en-IN" sz="2800" dirty="0">
                        <a:ln>
                          <a:solidFill>
                            <a:schemeClr val="accent1">
                              <a:lumMod val="60000"/>
                              <a:lumOff val="40000"/>
                            </a:schemeClr>
                          </a:solidFill>
                        </a:ln>
                        <a:latin typeface="Times New Roman" panose="02020603050405020304" pitchFamily="18" charset="0"/>
                        <a:cs typeface="Times New Roman" panose="02020603050405020304" pitchFamily="18" charset="0"/>
                      </a:endParaRPr>
                    </a:p>
                  </a:txBody>
                  <a:tcPr anchor="ctr"/>
                </a:tc>
                <a:tc>
                  <a:txBody>
                    <a:bodyPr/>
                    <a:lstStyle/>
                    <a:p>
                      <a:pPr algn="ctr"/>
                      <a:r>
                        <a:rPr lang="en-IN" sz="2800" dirty="0">
                          <a:ln>
                            <a:solidFill>
                              <a:schemeClr val="accent1">
                                <a:lumMod val="60000"/>
                                <a:lumOff val="40000"/>
                              </a:schemeClr>
                            </a:solidFill>
                          </a:ln>
                          <a:latin typeface="Times New Roman" panose="02020603050405020304" pitchFamily="18" charset="0"/>
                          <a:cs typeface="Times New Roman" panose="02020603050405020304" pitchFamily="18" charset="0"/>
                        </a:rPr>
                        <a:t>0.7813  TO  0.9575</a:t>
                      </a:r>
                    </a:p>
                  </a:txBody>
                  <a:tcPr anchor="ctr"/>
                </a:tc>
                <a:extLst>
                  <a:ext uri="{0D108BD9-81ED-4DB2-BD59-A6C34878D82A}">
                    <a16:rowId xmlns:a16="http://schemas.microsoft.com/office/drawing/2014/main" val="667154434"/>
                  </a:ext>
                </a:extLst>
              </a:tr>
            </a:tbl>
          </a:graphicData>
        </a:graphic>
      </p:graphicFrame>
      <p:sp>
        <p:nvSpPr>
          <p:cNvPr id="4" name="Rectangle 3">
            <a:extLst>
              <a:ext uri="{FF2B5EF4-FFF2-40B4-BE49-F238E27FC236}">
                <a16:creationId xmlns:a16="http://schemas.microsoft.com/office/drawing/2014/main" id="{9AF8EF76-50CC-B351-958D-F4C66F72CF9F}"/>
              </a:ext>
            </a:extLst>
          </p:cNvPr>
          <p:cNvSpPr/>
          <p:nvPr/>
        </p:nvSpPr>
        <p:spPr>
          <a:xfrm>
            <a:off x="2176625" y="308542"/>
            <a:ext cx="7838749"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outerShdw blurRad="38100" dist="25400" dir="5400000" algn="ctr" rotWithShape="0">
                    <a:srgbClr val="6E747A">
                      <a:alpha val="43000"/>
                    </a:srgbClr>
                  </a:outerShdw>
                </a:effectLst>
              </a:rPr>
              <a:t>Obtaining Inflection Points</a:t>
            </a:r>
            <a:endParaRPr lang="en-IN" sz="5400" b="0" cap="none" spc="0" dirty="0">
              <a:ln w="0"/>
              <a:solidFill>
                <a:schemeClr val="accent1"/>
              </a:solidFill>
              <a:effectLst>
                <a:outerShdw blurRad="38100" dist="25400" dir="5400000" algn="ctr" rotWithShape="0">
                  <a:srgbClr val="6E747A">
                    <a:alpha val="43000"/>
                  </a:srgbClr>
                </a:outerShdw>
              </a:effectLst>
            </a:endParaRPr>
          </a:p>
        </p:txBody>
      </p:sp>
      <p:sp>
        <p:nvSpPr>
          <p:cNvPr id="3" name="Rectangle 2">
            <a:extLst>
              <a:ext uri="{FF2B5EF4-FFF2-40B4-BE49-F238E27FC236}">
                <a16:creationId xmlns:a16="http://schemas.microsoft.com/office/drawing/2014/main" id="{AE2DFFCC-F0EF-11AE-AD3B-ED4BA45D8A79}"/>
              </a:ext>
            </a:extLst>
          </p:cNvPr>
          <p:cNvSpPr/>
          <p:nvPr/>
        </p:nvSpPr>
        <p:spPr>
          <a:xfrm>
            <a:off x="559292" y="4460836"/>
            <a:ext cx="11073412" cy="1815882"/>
          </a:xfrm>
          <a:prstGeom prst="rect">
            <a:avLst/>
          </a:prstGeom>
          <a:noFill/>
        </p:spPr>
        <p:txBody>
          <a:bodyPr wrap="square" lIns="91440" tIns="45720" rIns="91440" bIns="45720">
            <a:spAutoFit/>
          </a:bodyPr>
          <a:lstStyle/>
          <a:p>
            <a:pPr algn="ctr"/>
            <a:r>
              <a:rPr lang="en-US" sz="28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In business, an inflection point refers to a time of significant change in a company or industry. It might signal the start of strong growth, decline, or a major strategic shift due to innovations, market trends, or economic changes. </a:t>
            </a:r>
          </a:p>
        </p:txBody>
      </p:sp>
    </p:spTree>
    <p:extLst>
      <p:ext uri="{BB962C8B-B14F-4D97-AF65-F5344CB8AC3E}">
        <p14:creationId xmlns:p14="http://schemas.microsoft.com/office/powerpoint/2010/main" val="3034090803"/>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2D863C8-AA43-BDEA-6BC0-949460B95B1D}"/>
              </a:ext>
            </a:extLst>
          </p:cNvPr>
          <p:cNvSpPr/>
          <p:nvPr/>
        </p:nvSpPr>
        <p:spPr>
          <a:xfrm>
            <a:off x="3366890" y="154028"/>
            <a:ext cx="5336297" cy="646331"/>
          </a:xfrm>
          <a:prstGeom prst="rect">
            <a:avLst/>
          </a:prstGeom>
          <a:noFill/>
        </p:spPr>
        <p:txBody>
          <a:bodyPr wrap="square" lIns="91440" tIns="45720" rIns="91440" bIns="45720">
            <a:spAutoFit/>
          </a:bodyPr>
          <a:lstStyle/>
          <a:p>
            <a:pPr algn="ctr"/>
            <a:r>
              <a:rPr lang="en-US" sz="36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rPr>
              <a:t>Markov Chain</a:t>
            </a:r>
          </a:p>
        </p:txBody>
      </p:sp>
      <p:sp>
        <p:nvSpPr>
          <p:cNvPr id="3" name="Rectangle 2">
            <a:extLst>
              <a:ext uri="{FF2B5EF4-FFF2-40B4-BE49-F238E27FC236}">
                <a16:creationId xmlns:a16="http://schemas.microsoft.com/office/drawing/2014/main" id="{01BADA3C-9E1E-BF10-6384-83F88604BDD5}"/>
              </a:ext>
            </a:extLst>
          </p:cNvPr>
          <p:cNvSpPr/>
          <p:nvPr/>
        </p:nvSpPr>
        <p:spPr>
          <a:xfrm>
            <a:off x="0" y="800359"/>
            <a:ext cx="12070080" cy="1384995"/>
          </a:xfrm>
          <a:prstGeom prst="rect">
            <a:avLst/>
          </a:prstGeom>
          <a:noFill/>
        </p:spPr>
        <p:txBody>
          <a:bodyPr wrap="square" lIns="91440" tIns="45720" rIns="91440" bIns="45720">
            <a:spAutoFit/>
          </a:bodyPr>
          <a:lstStyle/>
          <a:p>
            <a:pPr algn="ctr"/>
            <a:r>
              <a:rPr lang="en-US" sz="28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“The Markov Chain model is used to analyze changes in a debtor’s credit rating over time. In finance, this model helps assess the likelihood of a company transitioning between credit ratings based on historical data.”</a:t>
            </a:r>
          </a:p>
        </p:txBody>
      </p:sp>
      <p:sp>
        <p:nvSpPr>
          <p:cNvPr id="6" name="Rectangle 5">
            <a:extLst>
              <a:ext uri="{FF2B5EF4-FFF2-40B4-BE49-F238E27FC236}">
                <a16:creationId xmlns:a16="http://schemas.microsoft.com/office/drawing/2014/main" id="{6EC66F5B-FAAC-4521-97BA-3ED8FE64FAA9}"/>
              </a:ext>
            </a:extLst>
          </p:cNvPr>
          <p:cNvSpPr/>
          <p:nvPr/>
        </p:nvSpPr>
        <p:spPr>
          <a:xfrm>
            <a:off x="-112542" y="1982260"/>
            <a:ext cx="2377442" cy="646331"/>
          </a:xfrm>
          <a:prstGeom prst="rect">
            <a:avLst/>
          </a:prstGeom>
          <a:noFill/>
        </p:spPr>
        <p:txBody>
          <a:bodyPr wrap="square" lIns="91440" tIns="45720" rIns="91440" bIns="45720">
            <a:spAutoFit/>
          </a:bodyPr>
          <a:lstStyle/>
          <a:p>
            <a:pPr algn="ctr"/>
            <a:r>
              <a:rPr lang="en-US" sz="36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rPr>
              <a:t>Process</a:t>
            </a:r>
          </a:p>
        </p:txBody>
      </p:sp>
      <p:sp>
        <p:nvSpPr>
          <p:cNvPr id="7" name="TextBox 6">
            <a:extLst>
              <a:ext uri="{FF2B5EF4-FFF2-40B4-BE49-F238E27FC236}">
                <a16:creationId xmlns:a16="http://schemas.microsoft.com/office/drawing/2014/main" id="{118A373D-81C8-17F4-ADAD-F47D8FEFB28D}"/>
              </a:ext>
            </a:extLst>
          </p:cNvPr>
          <p:cNvSpPr txBox="1"/>
          <p:nvPr/>
        </p:nvSpPr>
        <p:spPr>
          <a:xfrm>
            <a:off x="237978" y="2628591"/>
            <a:ext cx="11594123" cy="1569660"/>
          </a:xfrm>
          <a:prstGeom prst="rect">
            <a:avLst/>
          </a:prstGeom>
          <a:noFill/>
        </p:spPr>
        <p:txBody>
          <a:bodyPr wrap="square">
            <a:spAutoFit/>
          </a:bodyPr>
          <a:lstStyle/>
          <a:p>
            <a:pPr marL="342900" indent="-342900">
              <a:buFont typeface="Wingdings" panose="05000000000000000000" pitchFamily="2" charset="2"/>
              <a:buChar char="Ø"/>
            </a:pP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A Markov Chain represents a sequence of events where the probability of moving to a new state depends only on the current state, not the previous history.</a:t>
            </a:r>
          </a:p>
          <a:p>
            <a:pPr marL="342900" indent="-342900">
              <a:buFont typeface="Wingdings" panose="05000000000000000000" pitchFamily="2" charset="2"/>
              <a:buChar char="Ø"/>
            </a:pP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This model uses transition probabilities to define how likely a company is to move between different credit ratings (e.g., from "A" to "B" rating).</a:t>
            </a:r>
          </a:p>
        </p:txBody>
      </p:sp>
      <p:sp>
        <p:nvSpPr>
          <p:cNvPr id="8" name="Rectangle 7">
            <a:extLst>
              <a:ext uri="{FF2B5EF4-FFF2-40B4-BE49-F238E27FC236}">
                <a16:creationId xmlns:a16="http://schemas.microsoft.com/office/drawing/2014/main" id="{40C96D32-54A3-BDAE-6E73-78E95B323A08}"/>
              </a:ext>
            </a:extLst>
          </p:cNvPr>
          <p:cNvSpPr/>
          <p:nvPr/>
        </p:nvSpPr>
        <p:spPr>
          <a:xfrm>
            <a:off x="237978" y="4229410"/>
            <a:ext cx="3530990" cy="646331"/>
          </a:xfrm>
          <a:prstGeom prst="rect">
            <a:avLst/>
          </a:prstGeom>
          <a:noFill/>
        </p:spPr>
        <p:txBody>
          <a:bodyPr wrap="square" lIns="91440" tIns="45720" rIns="91440" bIns="45720">
            <a:spAutoFit/>
          </a:bodyPr>
          <a:lstStyle/>
          <a:p>
            <a:pPr algn="ctr"/>
            <a:r>
              <a:rPr lang="en-US" sz="36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rPr>
              <a:t>Model Equation </a:t>
            </a:r>
          </a:p>
        </p:txBody>
      </p:sp>
      <p:sp>
        <p:nvSpPr>
          <p:cNvPr id="9" name="Rectangle 8">
            <a:extLst>
              <a:ext uri="{FF2B5EF4-FFF2-40B4-BE49-F238E27FC236}">
                <a16:creationId xmlns:a16="http://schemas.microsoft.com/office/drawing/2014/main" id="{88DE0D54-A23F-B9C9-6557-4B2319A14F3E}"/>
              </a:ext>
            </a:extLst>
          </p:cNvPr>
          <p:cNvSpPr/>
          <p:nvPr/>
        </p:nvSpPr>
        <p:spPr>
          <a:xfrm>
            <a:off x="1848876" y="5056115"/>
            <a:ext cx="8494248" cy="830997"/>
          </a:xfrm>
          <a:prstGeom prst="rect">
            <a:avLst/>
          </a:prstGeom>
          <a:solidFill>
            <a:schemeClr val="accent1">
              <a:lumMod val="20000"/>
              <a:lumOff val="80000"/>
            </a:schemeClr>
          </a:solidFill>
          <a:effectLst>
            <a:glow rad="101600">
              <a:schemeClr val="accent1">
                <a:satMod val="175000"/>
                <a:alpha val="40000"/>
              </a:schemeClr>
            </a:glow>
          </a:effectLst>
        </p:spPr>
        <p:txBody>
          <a:bodyPr wrap="none" lIns="91440" tIns="45720" rIns="91440" bIns="45720">
            <a:spAutoFit/>
          </a:bodyPr>
          <a:lstStyle/>
          <a:p>
            <a:pPr algn="ct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P ( Xn+1= j| </a:t>
            </a:r>
            <a:r>
              <a:rPr lang="en-US" sz="2400" dirty="0" err="1">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Xn</a:t>
            </a: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t>
            </a:r>
            <a:r>
              <a:rPr lang="en-US" sz="2400" dirty="0" err="1">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i</a:t>
            </a: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 Xn-1= in-1 , ... , Xo= io) = P (Xn+1= j| </a:t>
            </a:r>
            <a:r>
              <a:rPr lang="en-US" sz="2400" dirty="0" err="1">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Xn</a:t>
            </a: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t>
            </a:r>
            <a:r>
              <a:rPr lang="en-US" sz="2400" dirty="0" err="1">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i</a:t>
            </a: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t>
            </a:r>
          </a:p>
          <a:p>
            <a:pPr algn="ct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t>
            </a:r>
            <a:r>
              <a:rPr lang="en-US" sz="2400" dirty="0" err="1">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i</a:t>
            </a: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j, i0, … ,in ∈ S , n ≥ 1</a:t>
            </a:r>
          </a:p>
        </p:txBody>
      </p:sp>
    </p:spTree>
    <p:extLst>
      <p:ext uri="{BB962C8B-B14F-4D97-AF65-F5344CB8AC3E}">
        <p14:creationId xmlns:p14="http://schemas.microsoft.com/office/powerpoint/2010/main" val="2321643272"/>
      </p:ext>
    </p:extLst>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6DFCE0-826D-380D-FF57-AC37B496252F}"/>
              </a:ext>
            </a:extLst>
          </p:cNvPr>
          <p:cNvSpPr/>
          <p:nvPr/>
        </p:nvSpPr>
        <p:spPr>
          <a:xfrm>
            <a:off x="2734791" y="101177"/>
            <a:ext cx="6722418" cy="707886"/>
          </a:xfrm>
          <a:prstGeom prst="rect">
            <a:avLst/>
          </a:prstGeom>
          <a:noFill/>
        </p:spPr>
        <p:txBody>
          <a:bodyPr wrap="none" lIns="91440" tIns="45720" rIns="91440" bIns="45720">
            <a:spAutoFit/>
          </a:bodyPr>
          <a:lstStyle/>
          <a:p>
            <a:pPr algn="ctr"/>
            <a:r>
              <a:rPr lang="en-US" sz="40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rPr>
              <a:t>Transition Probability Matrix</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8AB2E2F-306F-2391-FD22-0AE6822ED8D9}"/>
                  </a:ext>
                </a:extLst>
              </p:cNvPr>
              <p:cNvSpPr txBox="1"/>
              <p:nvPr/>
            </p:nvSpPr>
            <p:spPr>
              <a:xfrm>
                <a:off x="1139483" y="1327448"/>
                <a:ext cx="3277772" cy="16408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IN" i="1" smtClean="0">
                              <a:latin typeface="Cambria Math" panose="02040503050406030204" pitchFamily="18" charset="0"/>
                            </a:rPr>
                          </m:ctrlPr>
                        </m:dPr>
                        <m:e>
                          <m:m>
                            <m:mPr>
                              <m:mcs>
                                <m:mc>
                                  <m:mcPr>
                                    <m:count m:val="3"/>
                                    <m:mcJc m:val="center"/>
                                  </m:mcPr>
                                </m:mc>
                              </m:mcs>
                              <m:ctrlPr>
                                <a:rPr lang="en-IN" i="1">
                                  <a:latin typeface="Cambria Math" panose="02040503050406030204" pitchFamily="18" charset="0"/>
                                </a:rPr>
                              </m:ctrlPr>
                            </m:mPr>
                            <m:mr>
                              <m:e>
                                <m:f>
                                  <m:fPr>
                                    <m:ctrlPr>
                                      <a:rPr lang="en-US" i="1">
                                        <a:latin typeface="Cambria Math" panose="02040503050406030204" pitchFamily="18" charset="0"/>
                                      </a:rPr>
                                    </m:ctrlPr>
                                  </m:fPr>
                                  <m:num>
                                    <m:r>
                                      <m:rPr>
                                        <m:brk m:alnAt="7"/>
                                      </m:rPr>
                                      <a:rPr lang="en-US" i="1">
                                        <a:latin typeface="Cambria Math" panose="02040503050406030204" pitchFamily="18" charset="0"/>
                                      </a:rPr>
                                      <m:t>1</m:t>
                                    </m:r>
                                    <m:r>
                                      <a:rPr lang="en-US" i="1">
                                        <a:latin typeface="Cambria Math" panose="02040503050406030204" pitchFamily="18" charset="0"/>
                                      </a:rPr>
                                      <m:t>19</m:t>
                                    </m:r>
                                  </m:num>
                                  <m:den>
                                    <m:r>
                                      <m:rPr>
                                        <m:brk m:alnAt="7"/>
                                      </m:rPr>
                                      <a:rPr lang="en-US" i="1">
                                        <a:latin typeface="Cambria Math" panose="02040503050406030204" pitchFamily="18" charset="0"/>
                                      </a:rPr>
                                      <m:t>1</m:t>
                                    </m:r>
                                    <m:r>
                                      <a:rPr lang="en-US" i="1">
                                        <a:latin typeface="Cambria Math" panose="02040503050406030204" pitchFamily="18" charset="0"/>
                                      </a:rPr>
                                      <m:t>26</m:t>
                                    </m:r>
                                  </m:den>
                                </m:f>
                              </m:e>
                              <m:e>
                                <m:f>
                                  <m:fPr>
                                    <m:ctrlPr>
                                      <a:rPr lang="en-US" i="1">
                                        <a:latin typeface="Cambria Math" panose="02040503050406030204" pitchFamily="18" charset="0"/>
                                      </a:rPr>
                                    </m:ctrlPr>
                                  </m:fPr>
                                  <m:num>
                                    <m:r>
                                      <a:rPr lang="en-US" i="1">
                                        <a:latin typeface="Cambria Math" panose="02040503050406030204" pitchFamily="18" charset="0"/>
                                      </a:rPr>
                                      <m:t>7</m:t>
                                    </m:r>
                                  </m:num>
                                  <m:den>
                                    <m:r>
                                      <a:rPr lang="en-US" i="1">
                                        <a:latin typeface="Cambria Math" panose="02040503050406030204" pitchFamily="18" charset="0"/>
                                      </a:rPr>
                                      <m:t>126</m:t>
                                    </m:r>
                                  </m:den>
                                </m:f>
                              </m:e>
                              <m:e>
                                <m:r>
                                  <a:rPr lang="en-US" i="1">
                                    <a:latin typeface="Cambria Math" panose="02040503050406030204" pitchFamily="18" charset="0"/>
                                  </a:rPr>
                                  <m:t>0</m:t>
                                </m:r>
                              </m:e>
                            </m:mr>
                            <m:mr>
                              <m:e>
                                <m:f>
                                  <m:fPr>
                                    <m:ctrlPr>
                                      <a:rPr lang="en-US" i="1">
                                        <a:latin typeface="Cambria Math" panose="02040503050406030204" pitchFamily="18" charset="0"/>
                                      </a:rPr>
                                    </m:ctrlPr>
                                  </m:fPr>
                                  <m:num>
                                    <m:r>
                                      <a:rPr lang="en-US" i="1">
                                        <a:latin typeface="Cambria Math" panose="02040503050406030204" pitchFamily="18" charset="0"/>
                                      </a:rPr>
                                      <m:t>9</m:t>
                                    </m:r>
                                  </m:num>
                                  <m:den>
                                    <m:r>
                                      <a:rPr lang="en-US" i="1">
                                        <a:latin typeface="Cambria Math" panose="02040503050406030204" pitchFamily="18" charset="0"/>
                                      </a:rPr>
                                      <m:t>26</m:t>
                                    </m:r>
                                  </m:den>
                                </m:f>
                              </m:e>
                              <m:e>
                                <m:f>
                                  <m:fPr>
                                    <m:ctrlPr>
                                      <a:rPr lang="en-US" i="1">
                                        <a:latin typeface="Cambria Math" panose="02040503050406030204" pitchFamily="18" charset="0"/>
                                      </a:rPr>
                                    </m:ctrlPr>
                                  </m:fPr>
                                  <m:num>
                                    <m:r>
                                      <a:rPr lang="en-US" i="1">
                                        <a:latin typeface="Cambria Math" panose="02040503050406030204" pitchFamily="18" charset="0"/>
                                      </a:rPr>
                                      <m:t>13</m:t>
                                    </m:r>
                                  </m:num>
                                  <m:den>
                                    <m:r>
                                      <a:rPr lang="en-US" i="1">
                                        <a:latin typeface="Cambria Math" panose="02040503050406030204" pitchFamily="18" charset="0"/>
                                      </a:rPr>
                                      <m:t>26</m:t>
                                    </m:r>
                                  </m:den>
                                </m:f>
                              </m:e>
                              <m:e>
                                <m:f>
                                  <m:fPr>
                                    <m:ctrlPr>
                                      <a:rPr lang="en-US" i="1">
                                        <a:latin typeface="Cambria Math" panose="02040503050406030204" pitchFamily="18" charset="0"/>
                                      </a:rPr>
                                    </m:ctrlPr>
                                  </m:fPr>
                                  <m:num>
                                    <m:r>
                                      <a:rPr lang="en-US" i="1">
                                        <a:latin typeface="Cambria Math" panose="02040503050406030204" pitchFamily="18" charset="0"/>
                                      </a:rPr>
                                      <m:t>4</m:t>
                                    </m:r>
                                  </m:num>
                                  <m:den>
                                    <m:r>
                                      <a:rPr lang="en-US" i="1">
                                        <a:latin typeface="Cambria Math" panose="02040503050406030204" pitchFamily="18" charset="0"/>
                                      </a:rPr>
                                      <m:t>26</m:t>
                                    </m:r>
                                  </m:den>
                                </m:f>
                              </m:e>
                            </m:mr>
                            <m:mr>
                              <m:e>
                                <m:r>
                                  <a:rPr lang="en-US" i="1">
                                    <a:latin typeface="Cambria Math" panose="02040503050406030204" pitchFamily="18" charset="0"/>
                                  </a:rPr>
                                  <m:t>0</m:t>
                                </m:r>
                              </m:e>
                              <m:e>
                                <m:f>
                                  <m:fPr>
                                    <m:ctrlPr>
                                      <a:rPr lang="en-US" i="1">
                                        <a:latin typeface="Cambria Math" panose="02040503050406030204" pitchFamily="18" charset="0"/>
                                      </a:rPr>
                                    </m:ctrlPr>
                                  </m:fPr>
                                  <m:num>
                                    <m:r>
                                      <a:rPr lang="en-US" i="1">
                                        <a:latin typeface="Cambria Math" panose="02040503050406030204" pitchFamily="18" charset="0"/>
                                      </a:rPr>
                                      <m:t>6</m:t>
                                    </m:r>
                                  </m:num>
                                  <m:den>
                                    <m:r>
                                      <a:rPr lang="en-US" i="1">
                                        <a:latin typeface="Cambria Math" panose="02040503050406030204" pitchFamily="18" charset="0"/>
                                      </a:rPr>
                                      <m:t>23</m:t>
                                    </m:r>
                                  </m:den>
                                </m:f>
                              </m:e>
                              <m:e>
                                <m:f>
                                  <m:fPr>
                                    <m:ctrlPr>
                                      <a:rPr lang="en-US" i="1">
                                        <a:latin typeface="Cambria Math" panose="02040503050406030204" pitchFamily="18" charset="0"/>
                                      </a:rPr>
                                    </m:ctrlPr>
                                  </m:fPr>
                                  <m:num>
                                    <m:r>
                                      <a:rPr lang="en-US" i="1">
                                        <a:latin typeface="Cambria Math" panose="02040503050406030204" pitchFamily="18" charset="0"/>
                                      </a:rPr>
                                      <m:t>17</m:t>
                                    </m:r>
                                  </m:num>
                                  <m:den>
                                    <m:r>
                                      <a:rPr lang="en-US" i="1">
                                        <a:latin typeface="Cambria Math" panose="02040503050406030204" pitchFamily="18" charset="0"/>
                                      </a:rPr>
                                      <m:t>23</m:t>
                                    </m:r>
                                  </m:den>
                                </m:f>
                              </m:e>
                            </m:mr>
                          </m:m>
                        </m:e>
                      </m:d>
                    </m:oMath>
                  </m:oMathPara>
                </a14:m>
                <a:endParaRPr lang="en-IN" dirty="0"/>
              </a:p>
            </p:txBody>
          </p:sp>
        </mc:Choice>
        <mc:Fallback xmlns="">
          <p:sp>
            <p:nvSpPr>
              <p:cNvPr id="3" name="TextBox 2">
                <a:extLst>
                  <a:ext uri="{FF2B5EF4-FFF2-40B4-BE49-F238E27FC236}">
                    <a16:creationId xmlns:a16="http://schemas.microsoft.com/office/drawing/2014/main" id="{28AB2E2F-306F-2391-FD22-0AE6822ED8D9}"/>
                  </a:ext>
                </a:extLst>
              </p:cNvPr>
              <p:cNvSpPr txBox="1">
                <a:spLocks noRot="1" noChangeAspect="1" noMove="1" noResize="1" noEditPoints="1" noAdjustHandles="1" noChangeArrowheads="1" noChangeShapeType="1" noTextEdit="1"/>
              </p:cNvSpPr>
              <p:nvPr/>
            </p:nvSpPr>
            <p:spPr>
              <a:xfrm>
                <a:off x="1139483" y="1327448"/>
                <a:ext cx="3277772" cy="1640834"/>
              </a:xfrm>
              <a:prstGeom prst="rect">
                <a:avLst/>
              </a:prstGeom>
              <a:blipFill>
                <a:blip r:embed="rId2"/>
                <a:stretch>
                  <a:fillRect/>
                </a:stretch>
              </a:blipFill>
            </p:spPr>
            <p:txBody>
              <a:bodyPr/>
              <a:lstStyle/>
              <a:p>
                <a:r>
                  <a:rPr lang="en-IN">
                    <a:noFill/>
                  </a:rPr>
                  <a:t> </a:t>
                </a:r>
              </a:p>
            </p:txBody>
          </p:sp>
        </mc:Fallback>
      </mc:AlternateContent>
      <p:sp>
        <p:nvSpPr>
          <p:cNvPr id="7" name="Rectangle 6">
            <a:extLst>
              <a:ext uri="{FF2B5EF4-FFF2-40B4-BE49-F238E27FC236}">
                <a16:creationId xmlns:a16="http://schemas.microsoft.com/office/drawing/2014/main" id="{EB17C86A-7D3E-DBED-0CA7-8E9D3D2A029E}"/>
              </a:ext>
            </a:extLst>
          </p:cNvPr>
          <p:cNvSpPr/>
          <p:nvPr/>
        </p:nvSpPr>
        <p:spPr>
          <a:xfrm>
            <a:off x="1905379" y="847614"/>
            <a:ext cx="683076" cy="461665"/>
          </a:xfrm>
          <a:prstGeom prst="rect">
            <a:avLst/>
          </a:prstGeom>
          <a:noFill/>
        </p:spPr>
        <p:txBody>
          <a:bodyPr wrap="square" lIns="91440" tIns="45720" rIns="91440" bIns="45720">
            <a:spAutoFit/>
          </a:bodyPr>
          <a:lstStyle/>
          <a:p>
            <a:pPr algn="ctr"/>
            <a:r>
              <a:rPr lang="en-US" sz="24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H</a:t>
            </a:r>
          </a:p>
        </p:txBody>
      </p:sp>
      <p:sp>
        <p:nvSpPr>
          <p:cNvPr id="8" name="Rectangle 7">
            <a:extLst>
              <a:ext uri="{FF2B5EF4-FFF2-40B4-BE49-F238E27FC236}">
                <a16:creationId xmlns:a16="http://schemas.microsoft.com/office/drawing/2014/main" id="{DCB1CDB4-02B0-62E4-CC6E-F12BADCDE5F5}"/>
              </a:ext>
            </a:extLst>
          </p:cNvPr>
          <p:cNvSpPr/>
          <p:nvPr/>
        </p:nvSpPr>
        <p:spPr>
          <a:xfrm>
            <a:off x="2436831" y="847614"/>
            <a:ext cx="683076" cy="461665"/>
          </a:xfrm>
          <a:prstGeom prst="rect">
            <a:avLst/>
          </a:prstGeom>
          <a:noFill/>
        </p:spPr>
        <p:txBody>
          <a:bodyPr wrap="square" lIns="91440" tIns="45720" rIns="91440" bIns="45720">
            <a:spAutoFit/>
          </a:bodyPr>
          <a:lstStyle/>
          <a:p>
            <a:pPr algn="ct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S</a:t>
            </a:r>
            <a:endParaRPr lang="en-US" sz="24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B27193EC-F34C-A7F2-7BF5-8599B9A793FE}"/>
              </a:ext>
            </a:extLst>
          </p:cNvPr>
          <p:cNvSpPr/>
          <p:nvPr/>
        </p:nvSpPr>
        <p:spPr>
          <a:xfrm>
            <a:off x="2968283" y="857032"/>
            <a:ext cx="683076" cy="461665"/>
          </a:xfrm>
          <a:prstGeom prst="rect">
            <a:avLst/>
          </a:prstGeom>
          <a:noFill/>
        </p:spPr>
        <p:txBody>
          <a:bodyPr wrap="square" lIns="91440" tIns="45720" rIns="91440" bIns="45720">
            <a:spAutoFit/>
          </a:bodyPr>
          <a:lstStyle/>
          <a:p>
            <a:pPr algn="ct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P</a:t>
            </a:r>
            <a:endParaRPr lang="en-US" sz="24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03D16254-9F53-217B-4F83-5F372D5B7EAC}"/>
              </a:ext>
            </a:extLst>
          </p:cNvPr>
          <p:cNvSpPr/>
          <p:nvPr/>
        </p:nvSpPr>
        <p:spPr>
          <a:xfrm>
            <a:off x="1146491" y="1309279"/>
            <a:ext cx="683076" cy="461665"/>
          </a:xfrm>
          <a:prstGeom prst="rect">
            <a:avLst/>
          </a:prstGeom>
          <a:noFill/>
        </p:spPr>
        <p:txBody>
          <a:bodyPr wrap="square" lIns="91440" tIns="45720" rIns="91440" bIns="45720">
            <a:spAutoFit/>
          </a:bodyPr>
          <a:lstStyle/>
          <a:p>
            <a:pPr algn="ctr"/>
            <a:r>
              <a:rPr lang="en-US" sz="24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H</a:t>
            </a:r>
          </a:p>
        </p:txBody>
      </p:sp>
      <p:sp>
        <p:nvSpPr>
          <p:cNvPr id="11" name="Rectangle 10">
            <a:extLst>
              <a:ext uri="{FF2B5EF4-FFF2-40B4-BE49-F238E27FC236}">
                <a16:creationId xmlns:a16="http://schemas.microsoft.com/office/drawing/2014/main" id="{21785643-9D32-C08E-A655-2176CB228EBF}"/>
              </a:ext>
            </a:extLst>
          </p:cNvPr>
          <p:cNvSpPr/>
          <p:nvPr/>
        </p:nvSpPr>
        <p:spPr>
          <a:xfrm>
            <a:off x="1146491" y="1806733"/>
            <a:ext cx="683076" cy="461665"/>
          </a:xfrm>
          <a:prstGeom prst="rect">
            <a:avLst/>
          </a:prstGeom>
          <a:noFill/>
        </p:spPr>
        <p:txBody>
          <a:bodyPr wrap="square" lIns="91440" tIns="45720" rIns="91440" bIns="45720">
            <a:spAutoFit/>
          </a:bodyPr>
          <a:lstStyle/>
          <a:p>
            <a:pPr algn="ct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S</a:t>
            </a:r>
            <a:endParaRPr lang="en-US" sz="24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A612109D-9C10-0593-6B1F-D41288D64BD1}"/>
              </a:ext>
            </a:extLst>
          </p:cNvPr>
          <p:cNvSpPr/>
          <p:nvPr/>
        </p:nvSpPr>
        <p:spPr>
          <a:xfrm>
            <a:off x="1146491" y="2387507"/>
            <a:ext cx="683076" cy="461665"/>
          </a:xfrm>
          <a:prstGeom prst="rect">
            <a:avLst/>
          </a:prstGeom>
          <a:noFill/>
        </p:spPr>
        <p:txBody>
          <a:bodyPr wrap="square" lIns="91440" tIns="45720" rIns="91440" bIns="45720">
            <a:spAutoFit/>
          </a:bodyPr>
          <a:lstStyle/>
          <a:p>
            <a:pPr algn="ct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P</a:t>
            </a:r>
            <a:endParaRPr lang="en-US" sz="24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graphicFrame>
        <p:nvGraphicFramePr>
          <p:cNvPr id="13" name="Table 12">
            <a:extLst>
              <a:ext uri="{FF2B5EF4-FFF2-40B4-BE49-F238E27FC236}">
                <a16:creationId xmlns:a16="http://schemas.microsoft.com/office/drawing/2014/main" id="{F87DBF70-E2A5-24FB-3D33-3441D122C6D3}"/>
              </a:ext>
            </a:extLst>
          </p:cNvPr>
          <p:cNvGraphicFramePr>
            <a:graphicFrameLocks noGrp="1"/>
          </p:cNvGraphicFramePr>
          <p:nvPr>
            <p:extLst>
              <p:ext uri="{D42A27DB-BD31-4B8C-83A1-F6EECF244321}">
                <p14:modId xmlns:p14="http://schemas.microsoft.com/office/powerpoint/2010/main" val="1144637397"/>
              </p:ext>
            </p:extLst>
          </p:nvPr>
        </p:nvGraphicFramePr>
        <p:xfrm>
          <a:off x="392701" y="3754199"/>
          <a:ext cx="5151163" cy="2246769"/>
        </p:xfrm>
        <a:graphic>
          <a:graphicData uri="http://schemas.openxmlformats.org/drawingml/2006/table">
            <a:tbl>
              <a:tblPr firstRow="1" bandRow="1">
                <a:tableStyleId>{5C22544A-7EE6-4342-B048-85BDC9FD1C3A}</a:tableStyleId>
              </a:tblPr>
              <a:tblGrid>
                <a:gridCol w="1961878">
                  <a:extLst>
                    <a:ext uri="{9D8B030D-6E8A-4147-A177-3AD203B41FA5}">
                      <a16:colId xmlns:a16="http://schemas.microsoft.com/office/drawing/2014/main" val="165548548"/>
                    </a:ext>
                  </a:extLst>
                </a:gridCol>
                <a:gridCol w="3189285">
                  <a:extLst>
                    <a:ext uri="{9D8B030D-6E8A-4147-A177-3AD203B41FA5}">
                      <a16:colId xmlns:a16="http://schemas.microsoft.com/office/drawing/2014/main" val="3866667536"/>
                    </a:ext>
                  </a:extLst>
                </a:gridCol>
              </a:tblGrid>
              <a:tr h="842538">
                <a:tc>
                  <a:txBody>
                    <a:bodyPr/>
                    <a:lstStyle/>
                    <a:p>
                      <a:pPr algn="ctr"/>
                      <a:r>
                        <a:rPr lang="en-US" sz="2400" dirty="0">
                          <a:latin typeface="Times New Roman" panose="02020603050405020304" pitchFamily="18" charset="0"/>
                          <a:cs typeface="Times New Roman" panose="02020603050405020304" pitchFamily="18" charset="0"/>
                        </a:rPr>
                        <a:t>States</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dirty="0">
                          <a:latin typeface="Times New Roman" panose="02020603050405020304" pitchFamily="18" charset="0"/>
                          <a:cs typeface="Times New Roman" panose="02020603050405020304" pitchFamily="18" charset="0"/>
                        </a:rPr>
                        <a:t>Long Run Probability</a:t>
                      </a:r>
                      <a:endParaRPr lang="en-IN"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8518123"/>
                  </a:ext>
                </a:extLst>
              </a:tr>
              <a:tr h="468077">
                <a:tc>
                  <a:txBody>
                    <a:bodyPr/>
                    <a:lstStyle/>
                    <a:p>
                      <a:pPr algn="ctr"/>
                      <a:r>
                        <a:rPr lang="en-US" sz="2400" dirty="0">
                          <a:ln>
                            <a:solidFill>
                              <a:schemeClr val="accent1">
                                <a:lumMod val="60000"/>
                                <a:lumOff val="40000"/>
                              </a:schemeClr>
                            </a:solidFill>
                          </a:ln>
                          <a:latin typeface="Times New Roman" panose="02020603050405020304" pitchFamily="18" charset="0"/>
                          <a:cs typeface="Times New Roman" panose="02020603050405020304" pitchFamily="18" charset="0"/>
                        </a:rPr>
                        <a:t>Hedge</a:t>
                      </a:r>
                      <a:endParaRPr lang="en-IN" sz="2400" dirty="0">
                        <a:ln>
                          <a:solidFill>
                            <a:schemeClr val="accent1">
                              <a:lumMod val="60000"/>
                              <a:lumOff val="40000"/>
                            </a:schemeClr>
                          </a:solidFill>
                        </a:ln>
                        <a:latin typeface="Times New Roman" panose="02020603050405020304" pitchFamily="18" charset="0"/>
                        <a:cs typeface="Times New Roman" panose="02020603050405020304" pitchFamily="18" charset="0"/>
                      </a:endParaRPr>
                    </a:p>
                  </a:txBody>
                  <a:tcPr anchor="ctr"/>
                </a:tc>
                <a:tc>
                  <a:txBody>
                    <a:bodyPr/>
                    <a:lstStyle/>
                    <a:p>
                      <a:pPr algn="ctr"/>
                      <a:r>
                        <a:rPr lang="en-IN" sz="2400" dirty="0">
                          <a:ln>
                            <a:solidFill>
                              <a:schemeClr val="accent1">
                                <a:lumMod val="60000"/>
                                <a:lumOff val="40000"/>
                              </a:schemeClr>
                            </a:solidFill>
                          </a:ln>
                          <a:latin typeface="Times New Roman" panose="02020603050405020304" pitchFamily="18" charset="0"/>
                          <a:cs typeface="Times New Roman" panose="02020603050405020304" pitchFamily="18" charset="0"/>
                        </a:rPr>
                        <a:t>0.7967</a:t>
                      </a:r>
                    </a:p>
                  </a:txBody>
                  <a:tcPr anchor="ctr"/>
                </a:tc>
                <a:extLst>
                  <a:ext uri="{0D108BD9-81ED-4DB2-BD59-A6C34878D82A}">
                    <a16:rowId xmlns:a16="http://schemas.microsoft.com/office/drawing/2014/main" val="1988849441"/>
                  </a:ext>
                </a:extLst>
              </a:tr>
              <a:tr h="468077">
                <a:tc>
                  <a:txBody>
                    <a:bodyPr/>
                    <a:lstStyle/>
                    <a:p>
                      <a:pPr algn="ctr"/>
                      <a:r>
                        <a:rPr lang="en-US" sz="2400" dirty="0">
                          <a:ln>
                            <a:solidFill>
                              <a:schemeClr val="accent1">
                                <a:lumMod val="60000"/>
                                <a:lumOff val="40000"/>
                              </a:schemeClr>
                            </a:solidFill>
                          </a:ln>
                          <a:latin typeface="Times New Roman" panose="02020603050405020304" pitchFamily="18" charset="0"/>
                          <a:cs typeface="Times New Roman" panose="02020603050405020304" pitchFamily="18" charset="0"/>
                        </a:rPr>
                        <a:t>Speculative</a:t>
                      </a:r>
                      <a:endParaRPr lang="en-IN" sz="2400" dirty="0">
                        <a:ln>
                          <a:solidFill>
                            <a:schemeClr val="accent1">
                              <a:lumMod val="60000"/>
                              <a:lumOff val="40000"/>
                            </a:schemeClr>
                          </a:solidFill>
                        </a:ln>
                        <a:latin typeface="Times New Roman" panose="02020603050405020304" pitchFamily="18" charset="0"/>
                        <a:cs typeface="Times New Roman" panose="02020603050405020304" pitchFamily="18" charset="0"/>
                      </a:endParaRPr>
                    </a:p>
                  </a:txBody>
                  <a:tcPr anchor="ctr"/>
                </a:tc>
                <a:tc>
                  <a:txBody>
                    <a:bodyPr/>
                    <a:lstStyle/>
                    <a:p>
                      <a:pPr algn="ctr"/>
                      <a:r>
                        <a:rPr lang="en-IN" sz="2400" dirty="0">
                          <a:ln>
                            <a:solidFill>
                              <a:schemeClr val="accent1">
                                <a:lumMod val="60000"/>
                                <a:lumOff val="40000"/>
                              </a:schemeClr>
                            </a:solidFill>
                          </a:ln>
                          <a:latin typeface="Times New Roman" panose="02020603050405020304" pitchFamily="18" charset="0"/>
                          <a:cs typeface="Times New Roman" panose="02020603050405020304" pitchFamily="18" charset="0"/>
                        </a:rPr>
                        <a:t>0.1278</a:t>
                      </a:r>
                    </a:p>
                  </a:txBody>
                  <a:tcPr anchor="ctr"/>
                </a:tc>
                <a:extLst>
                  <a:ext uri="{0D108BD9-81ED-4DB2-BD59-A6C34878D82A}">
                    <a16:rowId xmlns:a16="http://schemas.microsoft.com/office/drawing/2014/main" val="1622414183"/>
                  </a:ext>
                </a:extLst>
              </a:tr>
              <a:tr h="468077">
                <a:tc>
                  <a:txBody>
                    <a:bodyPr/>
                    <a:lstStyle/>
                    <a:p>
                      <a:pPr algn="ctr"/>
                      <a:r>
                        <a:rPr lang="en-US" sz="2400" dirty="0">
                          <a:ln>
                            <a:solidFill>
                              <a:schemeClr val="accent1">
                                <a:lumMod val="60000"/>
                                <a:lumOff val="40000"/>
                              </a:schemeClr>
                            </a:solidFill>
                          </a:ln>
                          <a:latin typeface="Times New Roman" panose="02020603050405020304" pitchFamily="18" charset="0"/>
                          <a:cs typeface="Times New Roman" panose="02020603050405020304" pitchFamily="18" charset="0"/>
                        </a:rPr>
                        <a:t>Ponzi</a:t>
                      </a:r>
                      <a:endParaRPr lang="en-IN" sz="2400" dirty="0">
                        <a:ln>
                          <a:solidFill>
                            <a:schemeClr val="accent1">
                              <a:lumMod val="60000"/>
                              <a:lumOff val="40000"/>
                            </a:schemeClr>
                          </a:solidFill>
                        </a:ln>
                        <a:latin typeface="Times New Roman" panose="02020603050405020304" pitchFamily="18" charset="0"/>
                        <a:cs typeface="Times New Roman" panose="02020603050405020304" pitchFamily="18" charset="0"/>
                      </a:endParaRPr>
                    </a:p>
                  </a:txBody>
                  <a:tcPr anchor="ctr"/>
                </a:tc>
                <a:tc>
                  <a:txBody>
                    <a:bodyPr/>
                    <a:lstStyle/>
                    <a:p>
                      <a:pPr algn="ctr"/>
                      <a:r>
                        <a:rPr lang="en-IN" sz="2400" dirty="0">
                          <a:ln>
                            <a:solidFill>
                              <a:schemeClr val="accent1">
                                <a:lumMod val="60000"/>
                                <a:lumOff val="40000"/>
                              </a:schemeClr>
                            </a:solidFill>
                          </a:ln>
                          <a:latin typeface="Times New Roman" panose="02020603050405020304" pitchFamily="18" charset="0"/>
                          <a:cs typeface="Times New Roman" panose="02020603050405020304" pitchFamily="18" charset="0"/>
                        </a:rPr>
                        <a:t>0.0754</a:t>
                      </a:r>
                    </a:p>
                  </a:txBody>
                  <a:tcPr anchor="ctr"/>
                </a:tc>
                <a:extLst>
                  <a:ext uri="{0D108BD9-81ED-4DB2-BD59-A6C34878D82A}">
                    <a16:rowId xmlns:a16="http://schemas.microsoft.com/office/drawing/2014/main" val="3635317540"/>
                  </a:ext>
                </a:extLst>
              </a:tr>
            </a:tbl>
          </a:graphicData>
        </a:graphic>
      </p:graphicFrame>
      <p:pic>
        <p:nvPicPr>
          <p:cNvPr id="15" name="Picture 14">
            <a:extLst>
              <a:ext uri="{FF2B5EF4-FFF2-40B4-BE49-F238E27FC236}">
                <a16:creationId xmlns:a16="http://schemas.microsoft.com/office/drawing/2014/main" id="{F42E21A9-AF14-ACD2-9D64-F151BA881C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2791" y="1099057"/>
            <a:ext cx="5651351" cy="4659886"/>
          </a:xfrm>
          <a:prstGeom prst="rect">
            <a:avLst/>
          </a:prstGeom>
          <a:ln>
            <a:noFill/>
          </a:ln>
          <a:effectLst>
            <a:softEdge rad="112500"/>
          </a:effectLst>
        </p:spPr>
      </p:pic>
      <p:sp>
        <p:nvSpPr>
          <p:cNvPr id="4" name="Rectangle 3">
            <a:extLst>
              <a:ext uri="{FF2B5EF4-FFF2-40B4-BE49-F238E27FC236}">
                <a16:creationId xmlns:a16="http://schemas.microsoft.com/office/drawing/2014/main" id="{22FB740E-F708-1F7F-C0FE-46720B67D738}"/>
              </a:ext>
            </a:extLst>
          </p:cNvPr>
          <p:cNvSpPr/>
          <p:nvPr/>
        </p:nvSpPr>
        <p:spPr>
          <a:xfrm>
            <a:off x="9457208" y="910180"/>
            <a:ext cx="2524577" cy="1938992"/>
          </a:xfrm>
          <a:prstGeom prst="rect">
            <a:avLst/>
          </a:prstGeom>
          <a:noFill/>
        </p:spPr>
        <p:txBody>
          <a:bodyPr wrap="square" lIns="91440" tIns="45720" rIns="91440" bIns="45720">
            <a:spAutoFit/>
          </a:bodyPr>
          <a:lstStyle/>
          <a:p>
            <a:pPr algn="ctr"/>
            <a:r>
              <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The TPM indicates probability of migrating from one risk state to another over the course of 1 year.</a:t>
            </a:r>
            <a:endParaRPr lang="en-US" sz="20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640D5269-9AB4-0638-5908-76671387CA73}"/>
              </a:ext>
            </a:extLst>
          </p:cNvPr>
          <p:cNvSpPr/>
          <p:nvPr/>
        </p:nvSpPr>
        <p:spPr>
          <a:xfrm>
            <a:off x="6303208" y="3889718"/>
            <a:ext cx="2400806" cy="2246769"/>
          </a:xfrm>
          <a:prstGeom prst="rect">
            <a:avLst/>
          </a:prstGeom>
          <a:noFill/>
        </p:spPr>
        <p:txBody>
          <a:bodyPr wrap="square" lIns="91440" tIns="45720" rIns="91440" bIns="45720">
            <a:spAutoFit/>
          </a:bodyPr>
          <a:lstStyle/>
          <a:p>
            <a:pPr algn="ctr"/>
            <a:r>
              <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Long run probability indicates that irrespective of which state we start in we would have 7.5% chance of being in a high risk state. </a:t>
            </a:r>
            <a:endParaRPr lang="en-US" sz="20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825392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9B813C-BA9B-303D-DCF0-64092B38994E}"/>
              </a:ext>
            </a:extLst>
          </p:cNvPr>
          <p:cNvSpPr/>
          <p:nvPr/>
        </p:nvSpPr>
        <p:spPr>
          <a:xfrm>
            <a:off x="255871" y="159658"/>
            <a:ext cx="11680257" cy="1233714"/>
          </a:xfrm>
          <a:prstGeom prst="rect">
            <a:avLst/>
          </a:prstGeom>
          <a:noFill/>
        </p:spPr>
        <p:txBody>
          <a:bodyPr wrap="square" lIns="91440" tIns="45720" rIns="91440" bIns="45720">
            <a:spAutoFit/>
          </a:bodyPr>
          <a:lstStyle/>
          <a:p>
            <a:pPr algn="ctr"/>
            <a:r>
              <a:rPr lang="en-US" sz="36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rPr>
              <a:t>Comparing Simulated and Empirical Transition Probabilities</a:t>
            </a:r>
          </a:p>
        </p:txBody>
      </p:sp>
      <p:graphicFrame>
        <p:nvGraphicFramePr>
          <p:cNvPr id="25" name="Table 24">
            <a:extLst>
              <a:ext uri="{FF2B5EF4-FFF2-40B4-BE49-F238E27FC236}">
                <a16:creationId xmlns:a16="http://schemas.microsoft.com/office/drawing/2014/main" id="{12017A67-987D-B7E9-0B19-C1992D3449C5}"/>
              </a:ext>
            </a:extLst>
          </p:cNvPr>
          <p:cNvGraphicFramePr>
            <a:graphicFrameLocks noGrp="1"/>
          </p:cNvGraphicFramePr>
          <p:nvPr>
            <p:extLst>
              <p:ext uri="{D42A27DB-BD31-4B8C-83A1-F6EECF244321}">
                <p14:modId xmlns:p14="http://schemas.microsoft.com/office/powerpoint/2010/main" val="1851855468"/>
              </p:ext>
            </p:extLst>
          </p:nvPr>
        </p:nvGraphicFramePr>
        <p:xfrm>
          <a:off x="255867" y="2442952"/>
          <a:ext cx="5840132" cy="2773748"/>
        </p:xfrm>
        <a:graphic>
          <a:graphicData uri="http://schemas.openxmlformats.org/drawingml/2006/table">
            <a:tbl>
              <a:tblPr firstRow="1" bandRow="1">
                <a:tableStyleId>{5C22544A-7EE6-4342-B048-85BDC9FD1C3A}</a:tableStyleId>
              </a:tblPr>
              <a:tblGrid>
                <a:gridCol w="1460033">
                  <a:extLst>
                    <a:ext uri="{9D8B030D-6E8A-4147-A177-3AD203B41FA5}">
                      <a16:colId xmlns:a16="http://schemas.microsoft.com/office/drawing/2014/main" val="995968413"/>
                    </a:ext>
                  </a:extLst>
                </a:gridCol>
                <a:gridCol w="1460033">
                  <a:extLst>
                    <a:ext uri="{9D8B030D-6E8A-4147-A177-3AD203B41FA5}">
                      <a16:colId xmlns:a16="http://schemas.microsoft.com/office/drawing/2014/main" val="702470586"/>
                    </a:ext>
                  </a:extLst>
                </a:gridCol>
                <a:gridCol w="1460033">
                  <a:extLst>
                    <a:ext uri="{9D8B030D-6E8A-4147-A177-3AD203B41FA5}">
                      <a16:colId xmlns:a16="http://schemas.microsoft.com/office/drawing/2014/main" val="23054396"/>
                    </a:ext>
                  </a:extLst>
                </a:gridCol>
                <a:gridCol w="1460033">
                  <a:extLst>
                    <a:ext uri="{9D8B030D-6E8A-4147-A177-3AD203B41FA5}">
                      <a16:colId xmlns:a16="http://schemas.microsoft.com/office/drawing/2014/main" val="3586317256"/>
                    </a:ext>
                  </a:extLst>
                </a:gridCol>
              </a:tblGrid>
              <a:tr h="670628">
                <a:tc>
                  <a:txBody>
                    <a:bodyPr/>
                    <a:lstStyle/>
                    <a:p>
                      <a:pPr algn="ctr"/>
                      <a:r>
                        <a:rPr lang="en-US" sz="2000" dirty="0">
                          <a:latin typeface="Times New Roman" panose="02020603050405020304" pitchFamily="18" charset="0"/>
                          <a:cs typeface="Times New Roman" panose="02020603050405020304" pitchFamily="18" charset="0"/>
                        </a:rPr>
                        <a:t>States</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r>
                        <a:rPr lang="en-US" sz="2000" dirty="0">
                          <a:solidFill>
                            <a:schemeClr val="tx2"/>
                          </a:solidFill>
                          <a:latin typeface="Times New Roman" panose="02020603050405020304" pitchFamily="18" charset="0"/>
                          <a:cs typeface="Times New Roman" panose="02020603050405020304" pitchFamily="18" charset="0"/>
                        </a:rPr>
                        <a:t>Hedge</a:t>
                      </a:r>
                      <a:endParaRPr lang="en-IN" sz="2000" dirty="0">
                        <a:solidFill>
                          <a:schemeClr val="tx2"/>
                        </a:solidFill>
                        <a:latin typeface="Times New Roman" panose="02020603050405020304" pitchFamily="18" charset="0"/>
                        <a:cs typeface="Times New Roman" panose="02020603050405020304" pitchFamily="18" charset="0"/>
                      </a:endParaRPr>
                    </a:p>
                  </a:txBody>
                  <a:tcPr anchor="ctr"/>
                </a:tc>
                <a:tc>
                  <a:txBody>
                    <a:bodyPr/>
                    <a:lstStyle/>
                    <a:p>
                      <a:pPr algn="ctr"/>
                      <a:r>
                        <a:rPr lang="en-US" sz="2000" dirty="0">
                          <a:solidFill>
                            <a:schemeClr val="tx2"/>
                          </a:solidFill>
                          <a:latin typeface="Times New Roman" panose="02020603050405020304" pitchFamily="18" charset="0"/>
                          <a:cs typeface="Times New Roman" panose="02020603050405020304" pitchFamily="18" charset="0"/>
                        </a:rPr>
                        <a:t>Speculative</a:t>
                      </a:r>
                      <a:endParaRPr lang="en-IN" sz="2000" dirty="0">
                        <a:solidFill>
                          <a:schemeClr val="tx2"/>
                        </a:solidFill>
                        <a:latin typeface="Times New Roman" panose="02020603050405020304" pitchFamily="18" charset="0"/>
                        <a:cs typeface="Times New Roman" panose="02020603050405020304" pitchFamily="18" charset="0"/>
                      </a:endParaRPr>
                    </a:p>
                  </a:txBody>
                  <a:tcPr anchor="ctr"/>
                </a:tc>
                <a:tc>
                  <a:txBody>
                    <a:bodyPr/>
                    <a:lstStyle/>
                    <a:p>
                      <a:pPr algn="ctr"/>
                      <a:r>
                        <a:rPr lang="en-US" sz="2000" dirty="0">
                          <a:solidFill>
                            <a:schemeClr val="tx2"/>
                          </a:solidFill>
                          <a:latin typeface="Times New Roman" panose="02020603050405020304" pitchFamily="18" charset="0"/>
                          <a:cs typeface="Times New Roman" panose="02020603050405020304" pitchFamily="18" charset="0"/>
                        </a:rPr>
                        <a:t>Ponzi</a:t>
                      </a:r>
                      <a:endParaRPr lang="en-IN" sz="2000" dirty="0">
                        <a:solidFill>
                          <a:schemeClr val="tx2"/>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619694099"/>
                  </a:ext>
                </a:extLst>
              </a:tr>
              <a:tr h="6776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tx2"/>
                          </a:solidFill>
                          <a:latin typeface="Times New Roman" panose="02020603050405020304" pitchFamily="18" charset="0"/>
                          <a:cs typeface="Times New Roman" panose="02020603050405020304" pitchFamily="18" charset="0"/>
                        </a:rPr>
                        <a:t>Hedge</a:t>
                      </a:r>
                      <a:endParaRPr lang="en-IN" sz="2000" dirty="0">
                        <a:solidFill>
                          <a:schemeClr val="tx2"/>
                        </a:solidFill>
                        <a:latin typeface="Times New Roman" panose="02020603050405020304" pitchFamily="18" charset="0"/>
                        <a:cs typeface="Times New Roman" panose="02020603050405020304" pitchFamily="18" charset="0"/>
                      </a:endParaRPr>
                    </a:p>
                    <a:p>
                      <a:pPr algn="ctr"/>
                      <a:endParaRPr lang="en-IN" sz="2000" dirty="0">
                        <a:solidFill>
                          <a:schemeClr val="tx2"/>
                        </a:solidFill>
                        <a:latin typeface="Times New Roman" panose="02020603050405020304" pitchFamily="18" charset="0"/>
                        <a:cs typeface="Times New Roman" panose="02020603050405020304" pitchFamily="18" charset="0"/>
                      </a:endParaRPr>
                    </a:p>
                  </a:txBody>
                  <a:tcPr anchor="ctr"/>
                </a:tc>
                <a:tc>
                  <a:txBody>
                    <a:bodyPr/>
                    <a:lstStyle/>
                    <a:p>
                      <a:pPr algn="ctr"/>
                      <a:r>
                        <a:rPr lang="en-IN" sz="2000" dirty="0">
                          <a:solidFill>
                            <a:schemeClr val="accent1">
                              <a:lumMod val="75000"/>
                            </a:schemeClr>
                          </a:solidFill>
                          <a:latin typeface="Times New Roman" panose="02020603050405020304" pitchFamily="18" charset="0"/>
                          <a:cs typeface="Times New Roman" panose="02020603050405020304" pitchFamily="18" charset="0"/>
                        </a:rPr>
                        <a:t>0.94444444</a:t>
                      </a:r>
                    </a:p>
                  </a:txBody>
                  <a:tcPr anchor="ctr"/>
                </a:tc>
                <a:tc>
                  <a:txBody>
                    <a:bodyPr/>
                    <a:lstStyle/>
                    <a:p>
                      <a:pPr algn="ctr"/>
                      <a:r>
                        <a:rPr lang="en-IN" sz="2000" dirty="0">
                          <a:solidFill>
                            <a:schemeClr val="accent1">
                              <a:lumMod val="75000"/>
                            </a:schemeClr>
                          </a:solidFill>
                          <a:latin typeface="Times New Roman" panose="02020603050405020304" pitchFamily="18" charset="0"/>
                          <a:cs typeface="Times New Roman" panose="02020603050405020304" pitchFamily="18" charset="0"/>
                        </a:rPr>
                        <a:t>0.05555556</a:t>
                      </a:r>
                    </a:p>
                  </a:txBody>
                  <a:tcPr anchor="ctr"/>
                </a:tc>
                <a:tc>
                  <a:txBody>
                    <a:bodyPr/>
                    <a:lstStyle/>
                    <a:p>
                      <a:pPr algn="ctr"/>
                      <a:r>
                        <a:rPr lang="en-IN" sz="2000" dirty="0">
                          <a:solidFill>
                            <a:schemeClr val="accent1">
                              <a:lumMod val="75000"/>
                            </a:schemeClr>
                          </a:solidFill>
                          <a:latin typeface="Times New Roman" panose="02020603050405020304" pitchFamily="18" charset="0"/>
                          <a:cs typeface="Times New Roman" panose="02020603050405020304" pitchFamily="18" charset="0"/>
                        </a:rPr>
                        <a:t>0</a:t>
                      </a:r>
                    </a:p>
                  </a:txBody>
                  <a:tcPr anchor="ctr"/>
                </a:tc>
                <a:extLst>
                  <a:ext uri="{0D108BD9-81ED-4DB2-BD59-A6C34878D82A}">
                    <a16:rowId xmlns:a16="http://schemas.microsoft.com/office/drawing/2014/main" val="3171398002"/>
                  </a:ext>
                </a:extLst>
              </a:tr>
              <a:tr h="6776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tx2"/>
                          </a:solidFill>
                          <a:latin typeface="Times New Roman" panose="02020603050405020304" pitchFamily="18" charset="0"/>
                          <a:cs typeface="Times New Roman" panose="02020603050405020304" pitchFamily="18" charset="0"/>
                        </a:rPr>
                        <a:t>Speculative</a:t>
                      </a:r>
                      <a:endParaRPr lang="en-IN" sz="2000" dirty="0">
                        <a:solidFill>
                          <a:schemeClr val="tx2"/>
                        </a:solidFill>
                        <a:latin typeface="Times New Roman" panose="02020603050405020304" pitchFamily="18" charset="0"/>
                        <a:cs typeface="Times New Roman" panose="02020603050405020304" pitchFamily="18" charset="0"/>
                      </a:endParaRPr>
                    </a:p>
                    <a:p>
                      <a:pPr algn="ctr"/>
                      <a:endParaRPr lang="en-IN" sz="2000" dirty="0">
                        <a:solidFill>
                          <a:schemeClr val="tx2"/>
                        </a:solidFill>
                        <a:latin typeface="Times New Roman" panose="02020603050405020304" pitchFamily="18" charset="0"/>
                        <a:cs typeface="Times New Roman" panose="02020603050405020304" pitchFamily="18" charset="0"/>
                      </a:endParaRPr>
                    </a:p>
                  </a:txBody>
                  <a:tcPr/>
                </a:tc>
                <a:tc>
                  <a:txBody>
                    <a:bodyPr/>
                    <a:lstStyle/>
                    <a:p>
                      <a:pPr algn="ctr"/>
                      <a:r>
                        <a:rPr lang="en-IN" sz="2000" dirty="0">
                          <a:solidFill>
                            <a:schemeClr val="accent1">
                              <a:lumMod val="75000"/>
                            </a:schemeClr>
                          </a:solidFill>
                          <a:latin typeface="Times New Roman" panose="02020603050405020304" pitchFamily="18" charset="0"/>
                          <a:cs typeface="Times New Roman" panose="02020603050405020304" pitchFamily="18" charset="0"/>
                        </a:rPr>
                        <a:t>0.34615385</a:t>
                      </a:r>
                    </a:p>
                  </a:txBody>
                  <a:tcPr anchor="ctr"/>
                </a:tc>
                <a:tc>
                  <a:txBody>
                    <a:bodyPr/>
                    <a:lstStyle/>
                    <a:p>
                      <a:pPr algn="ctr"/>
                      <a:r>
                        <a:rPr lang="en-IN" sz="2000" dirty="0">
                          <a:solidFill>
                            <a:schemeClr val="accent1">
                              <a:lumMod val="75000"/>
                            </a:schemeClr>
                          </a:solidFill>
                          <a:latin typeface="Times New Roman" panose="02020603050405020304" pitchFamily="18" charset="0"/>
                          <a:cs typeface="Times New Roman" panose="02020603050405020304" pitchFamily="18" charset="0"/>
                        </a:rPr>
                        <a:t>0.5</a:t>
                      </a:r>
                    </a:p>
                  </a:txBody>
                  <a:tcPr anchor="ctr"/>
                </a:tc>
                <a:tc>
                  <a:txBody>
                    <a:bodyPr/>
                    <a:lstStyle/>
                    <a:p>
                      <a:pPr algn="ctr"/>
                      <a:r>
                        <a:rPr lang="en-IN" sz="2000" dirty="0">
                          <a:solidFill>
                            <a:schemeClr val="accent1">
                              <a:lumMod val="75000"/>
                            </a:schemeClr>
                          </a:solidFill>
                          <a:latin typeface="Times New Roman" panose="02020603050405020304" pitchFamily="18" charset="0"/>
                          <a:cs typeface="Times New Roman" panose="02020603050405020304" pitchFamily="18" charset="0"/>
                        </a:rPr>
                        <a:t>0.15384615</a:t>
                      </a:r>
                    </a:p>
                  </a:txBody>
                  <a:tcPr anchor="ctr"/>
                </a:tc>
                <a:extLst>
                  <a:ext uri="{0D108BD9-81ED-4DB2-BD59-A6C34878D82A}">
                    <a16:rowId xmlns:a16="http://schemas.microsoft.com/office/drawing/2014/main" val="50915475"/>
                  </a:ext>
                </a:extLst>
              </a:tr>
              <a:tr h="6776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tx2"/>
                          </a:solidFill>
                          <a:latin typeface="Times New Roman" panose="02020603050405020304" pitchFamily="18" charset="0"/>
                          <a:cs typeface="Times New Roman" panose="02020603050405020304" pitchFamily="18" charset="0"/>
                        </a:rPr>
                        <a:t>Ponzi</a:t>
                      </a:r>
                      <a:endParaRPr lang="en-IN" sz="2000" dirty="0">
                        <a:solidFill>
                          <a:schemeClr val="tx2"/>
                        </a:solidFill>
                        <a:latin typeface="Times New Roman" panose="02020603050405020304" pitchFamily="18" charset="0"/>
                        <a:cs typeface="Times New Roman" panose="02020603050405020304" pitchFamily="18" charset="0"/>
                      </a:endParaRPr>
                    </a:p>
                    <a:p>
                      <a:pPr algn="ctr"/>
                      <a:endParaRPr lang="en-IN" sz="2000" dirty="0">
                        <a:solidFill>
                          <a:schemeClr val="tx2"/>
                        </a:solidFill>
                        <a:latin typeface="Times New Roman" panose="02020603050405020304" pitchFamily="18" charset="0"/>
                        <a:cs typeface="Times New Roman" panose="02020603050405020304" pitchFamily="18" charset="0"/>
                      </a:endParaRPr>
                    </a:p>
                  </a:txBody>
                  <a:tcPr/>
                </a:tc>
                <a:tc>
                  <a:txBody>
                    <a:bodyPr/>
                    <a:lstStyle/>
                    <a:p>
                      <a:pPr algn="ctr"/>
                      <a:r>
                        <a:rPr lang="en-US" sz="2000" dirty="0">
                          <a:solidFill>
                            <a:schemeClr val="accent1">
                              <a:lumMod val="75000"/>
                            </a:schemeClr>
                          </a:solidFill>
                          <a:latin typeface="Times New Roman" panose="02020603050405020304" pitchFamily="18" charset="0"/>
                          <a:cs typeface="Times New Roman" panose="02020603050405020304" pitchFamily="18" charset="0"/>
                        </a:rPr>
                        <a:t>0</a:t>
                      </a:r>
                      <a:endParaRPr lang="en-IN" sz="2000" dirty="0">
                        <a:solidFill>
                          <a:schemeClr val="accent1">
                            <a:lumMod val="75000"/>
                          </a:schemeClr>
                        </a:solidFill>
                        <a:latin typeface="Times New Roman" panose="02020603050405020304" pitchFamily="18" charset="0"/>
                        <a:cs typeface="Times New Roman" panose="02020603050405020304" pitchFamily="18" charset="0"/>
                      </a:endParaRPr>
                    </a:p>
                  </a:txBody>
                  <a:tcPr anchor="ctr"/>
                </a:tc>
                <a:tc>
                  <a:txBody>
                    <a:bodyPr/>
                    <a:lstStyle/>
                    <a:p>
                      <a:pPr algn="ctr"/>
                      <a:r>
                        <a:rPr lang="en-IN" sz="2000" dirty="0">
                          <a:solidFill>
                            <a:schemeClr val="accent1">
                              <a:lumMod val="75000"/>
                            </a:schemeClr>
                          </a:solidFill>
                          <a:latin typeface="Times New Roman" panose="02020603050405020304" pitchFamily="18" charset="0"/>
                          <a:cs typeface="Times New Roman" panose="02020603050405020304" pitchFamily="18" charset="0"/>
                        </a:rPr>
                        <a:t>0.26086957</a:t>
                      </a:r>
                    </a:p>
                  </a:txBody>
                  <a:tcPr anchor="ctr"/>
                </a:tc>
                <a:tc>
                  <a:txBody>
                    <a:bodyPr/>
                    <a:lstStyle/>
                    <a:p>
                      <a:pPr algn="ctr"/>
                      <a:r>
                        <a:rPr lang="en-IN" sz="2000" dirty="0">
                          <a:solidFill>
                            <a:schemeClr val="accent1">
                              <a:lumMod val="75000"/>
                            </a:schemeClr>
                          </a:solidFill>
                          <a:latin typeface="Times New Roman" panose="02020603050405020304" pitchFamily="18" charset="0"/>
                          <a:cs typeface="Times New Roman" panose="02020603050405020304" pitchFamily="18" charset="0"/>
                        </a:rPr>
                        <a:t>0.73913043</a:t>
                      </a:r>
                    </a:p>
                  </a:txBody>
                  <a:tcPr anchor="ctr"/>
                </a:tc>
                <a:extLst>
                  <a:ext uri="{0D108BD9-81ED-4DB2-BD59-A6C34878D82A}">
                    <a16:rowId xmlns:a16="http://schemas.microsoft.com/office/drawing/2014/main" val="4179994209"/>
                  </a:ext>
                </a:extLst>
              </a:tr>
            </a:tbl>
          </a:graphicData>
        </a:graphic>
      </p:graphicFrame>
      <p:graphicFrame>
        <p:nvGraphicFramePr>
          <p:cNvPr id="32" name="Table 31">
            <a:extLst>
              <a:ext uri="{FF2B5EF4-FFF2-40B4-BE49-F238E27FC236}">
                <a16:creationId xmlns:a16="http://schemas.microsoft.com/office/drawing/2014/main" id="{71D0DF4D-791A-B9EF-F11D-92CC8B2D3C68}"/>
              </a:ext>
            </a:extLst>
          </p:cNvPr>
          <p:cNvGraphicFramePr>
            <a:graphicFrameLocks noGrp="1"/>
          </p:cNvGraphicFramePr>
          <p:nvPr>
            <p:extLst>
              <p:ext uri="{D42A27DB-BD31-4B8C-83A1-F6EECF244321}">
                <p14:modId xmlns:p14="http://schemas.microsoft.com/office/powerpoint/2010/main" val="1033549835"/>
              </p:ext>
            </p:extLst>
          </p:nvPr>
        </p:nvGraphicFramePr>
        <p:xfrm>
          <a:off x="6323733" y="2442952"/>
          <a:ext cx="5732280" cy="2796557"/>
        </p:xfrm>
        <a:graphic>
          <a:graphicData uri="http://schemas.openxmlformats.org/drawingml/2006/table">
            <a:tbl>
              <a:tblPr firstRow="1" bandRow="1">
                <a:tableStyleId>{5C22544A-7EE6-4342-B048-85BDC9FD1C3A}</a:tableStyleId>
              </a:tblPr>
              <a:tblGrid>
                <a:gridCol w="1433070">
                  <a:extLst>
                    <a:ext uri="{9D8B030D-6E8A-4147-A177-3AD203B41FA5}">
                      <a16:colId xmlns:a16="http://schemas.microsoft.com/office/drawing/2014/main" val="995968413"/>
                    </a:ext>
                  </a:extLst>
                </a:gridCol>
                <a:gridCol w="1433070">
                  <a:extLst>
                    <a:ext uri="{9D8B030D-6E8A-4147-A177-3AD203B41FA5}">
                      <a16:colId xmlns:a16="http://schemas.microsoft.com/office/drawing/2014/main" val="702470586"/>
                    </a:ext>
                  </a:extLst>
                </a:gridCol>
                <a:gridCol w="1433070">
                  <a:extLst>
                    <a:ext uri="{9D8B030D-6E8A-4147-A177-3AD203B41FA5}">
                      <a16:colId xmlns:a16="http://schemas.microsoft.com/office/drawing/2014/main" val="23054396"/>
                    </a:ext>
                  </a:extLst>
                </a:gridCol>
                <a:gridCol w="1433070">
                  <a:extLst>
                    <a:ext uri="{9D8B030D-6E8A-4147-A177-3AD203B41FA5}">
                      <a16:colId xmlns:a16="http://schemas.microsoft.com/office/drawing/2014/main" val="3586317256"/>
                    </a:ext>
                  </a:extLst>
                </a:gridCol>
              </a:tblGrid>
              <a:tr h="693437">
                <a:tc>
                  <a:txBody>
                    <a:bodyPr/>
                    <a:lstStyle/>
                    <a:p>
                      <a:pPr algn="ctr"/>
                      <a:r>
                        <a:rPr lang="en-US" sz="2000" dirty="0">
                          <a:latin typeface="Times New Roman" panose="02020603050405020304" pitchFamily="18" charset="0"/>
                          <a:cs typeface="Times New Roman" panose="02020603050405020304" pitchFamily="18" charset="0"/>
                        </a:rPr>
                        <a:t>States</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r>
                        <a:rPr lang="en-US" sz="2000" dirty="0">
                          <a:solidFill>
                            <a:schemeClr val="tx2"/>
                          </a:solidFill>
                          <a:latin typeface="Times New Roman" panose="02020603050405020304" pitchFamily="18" charset="0"/>
                          <a:cs typeface="Times New Roman" panose="02020603050405020304" pitchFamily="18" charset="0"/>
                        </a:rPr>
                        <a:t>Hedge</a:t>
                      </a:r>
                      <a:endParaRPr lang="en-IN" sz="2000" dirty="0">
                        <a:solidFill>
                          <a:schemeClr val="tx2"/>
                        </a:solidFill>
                        <a:latin typeface="Times New Roman" panose="02020603050405020304" pitchFamily="18" charset="0"/>
                        <a:cs typeface="Times New Roman" panose="02020603050405020304" pitchFamily="18" charset="0"/>
                      </a:endParaRPr>
                    </a:p>
                  </a:txBody>
                  <a:tcPr anchor="ctr"/>
                </a:tc>
                <a:tc>
                  <a:txBody>
                    <a:bodyPr/>
                    <a:lstStyle/>
                    <a:p>
                      <a:pPr algn="ctr"/>
                      <a:r>
                        <a:rPr lang="en-US" sz="2000" dirty="0">
                          <a:solidFill>
                            <a:schemeClr val="tx2"/>
                          </a:solidFill>
                          <a:latin typeface="Times New Roman" panose="02020603050405020304" pitchFamily="18" charset="0"/>
                          <a:cs typeface="Times New Roman" panose="02020603050405020304" pitchFamily="18" charset="0"/>
                        </a:rPr>
                        <a:t>Speculative</a:t>
                      </a:r>
                      <a:endParaRPr lang="en-IN" sz="2000" dirty="0">
                        <a:solidFill>
                          <a:schemeClr val="tx2"/>
                        </a:solidFill>
                        <a:latin typeface="Times New Roman" panose="02020603050405020304" pitchFamily="18" charset="0"/>
                        <a:cs typeface="Times New Roman" panose="02020603050405020304" pitchFamily="18" charset="0"/>
                      </a:endParaRPr>
                    </a:p>
                  </a:txBody>
                  <a:tcPr anchor="ctr"/>
                </a:tc>
                <a:tc>
                  <a:txBody>
                    <a:bodyPr/>
                    <a:lstStyle/>
                    <a:p>
                      <a:pPr algn="ctr"/>
                      <a:r>
                        <a:rPr lang="en-US" sz="2000" dirty="0">
                          <a:solidFill>
                            <a:schemeClr val="tx2"/>
                          </a:solidFill>
                          <a:latin typeface="Times New Roman" panose="02020603050405020304" pitchFamily="18" charset="0"/>
                          <a:cs typeface="Times New Roman" panose="02020603050405020304" pitchFamily="18" charset="0"/>
                        </a:rPr>
                        <a:t>Ponzi</a:t>
                      </a:r>
                      <a:endParaRPr lang="en-IN" sz="2000" dirty="0">
                        <a:solidFill>
                          <a:schemeClr val="tx2"/>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619694099"/>
                  </a:ext>
                </a:extLst>
              </a:tr>
              <a:tr h="6934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tx2"/>
                          </a:solidFill>
                          <a:latin typeface="Times New Roman" panose="02020603050405020304" pitchFamily="18" charset="0"/>
                          <a:cs typeface="Times New Roman" panose="02020603050405020304" pitchFamily="18" charset="0"/>
                        </a:rPr>
                        <a:t>Hedge</a:t>
                      </a:r>
                      <a:endParaRPr lang="en-IN" sz="2000" dirty="0">
                        <a:solidFill>
                          <a:schemeClr val="tx2"/>
                        </a:solidFill>
                        <a:latin typeface="Times New Roman" panose="02020603050405020304" pitchFamily="18" charset="0"/>
                        <a:cs typeface="Times New Roman" panose="02020603050405020304" pitchFamily="18" charset="0"/>
                      </a:endParaRPr>
                    </a:p>
                    <a:p>
                      <a:pPr algn="ctr"/>
                      <a:endParaRPr lang="en-IN" sz="2000" dirty="0">
                        <a:solidFill>
                          <a:schemeClr val="tx2"/>
                        </a:solidFill>
                        <a:latin typeface="Times New Roman" panose="02020603050405020304" pitchFamily="18" charset="0"/>
                        <a:cs typeface="Times New Roman" panose="02020603050405020304" pitchFamily="18" charset="0"/>
                      </a:endParaRPr>
                    </a:p>
                  </a:txBody>
                  <a:tcPr anchor="ctr"/>
                </a:tc>
                <a:tc>
                  <a:txBody>
                    <a:bodyPr/>
                    <a:lstStyle/>
                    <a:p>
                      <a:pPr algn="ctr"/>
                      <a:r>
                        <a:rPr lang="en-IN" sz="2000" dirty="0">
                          <a:solidFill>
                            <a:schemeClr val="accent1">
                              <a:lumMod val="75000"/>
                            </a:schemeClr>
                          </a:solidFill>
                          <a:latin typeface="Times New Roman" panose="02020603050405020304" pitchFamily="18" charset="0"/>
                          <a:cs typeface="Times New Roman" panose="02020603050405020304" pitchFamily="18" charset="0"/>
                        </a:rPr>
                        <a:t>0.94513545</a:t>
                      </a:r>
                    </a:p>
                  </a:txBody>
                  <a:tcPr anchor="ctr"/>
                </a:tc>
                <a:tc>
                  <a:txBody>
                    <a:bodyPr/>
                    <a:lstStyle/>
                    <a:p>
                      <a:pPr algn="ctr"/>
                      <a:r>
                        <a:rPr lang="en-IN" sz="2000" dirty="0">
                          <a:solidFill>
                            <a:schemeClr val="accent1">
                              <a:lumMod val="75000"/>
                            </a:schemeClr>
                          </a:solidFill>
                          <a:latin typeface="Times New Roman" panose="02020603050405020304" pitchFamily="18" charset="0"/>
                          <a:cs typeface="Times New Roman" panose="02020603050405020304" pitchFamily="18" charset="0"/>
                        </a:rPr>
                        <a:t>0.05486455</a:t>
                      </a:r>
                    </a:p>
                  </a:txBody>
                  <a:tcPr anchor="ctr"/>
                </a:tc>
                <a:tc>
                  <a:txBody>
                    <a:bodyPr/>
                    <a:lstStyle/>
                    <a:p>
                      <a:pPr algn="ctr"/>
                      <a:r>
                        <a:rPr lang="en-IN" sz="2000" dirty="0">
                          <a:solidFill>
                            <a:schemeClr val="accent1">
                              <a:lumMod val="75000"/>
                            </a:schemeClr>
                          </a:solidFill>
                          <a:latin typeface="Times New Roman" panose="02020603050405020304" pitchFamily="18" charset="0"/>
                          <a:cs typeface="Times New Roman" panose="02020603050405020304" pitchFamily="18" charset="0"/>
                        </a:rPr>
                        <a:t>0</a:t>
                      </a:r>
                    </a:p>
                  </a:txBody>
                  <a:tcPr anchor="ctr"/>
                </a:tc>
                <a:extLst>
                  <a:ext uri="{0D108BD9-81ED-4DB2-BD59-A6C34878D82A}">
                    <a16:rowId xmlns:a16="http://schemas.microsoft.com/office/drawing/2014/main" val="3171398002"/>
                  </a:ext>
                </a:extLst>
              </a:tr>
              <a:tr h="6934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tx2"/>
                          </a:solidFill>
                          <a:latin typeface="Times New Roman" panose="02020603050405020304" pitchFamily="18" charset="0"/>
                          <a:cs typeface="Times New Roman" panose="02020603050405020304" pitchFamily="18" charset="0"/>
                        </a:rPr>
                        <a:t>Speculative</a:t>
                      </a:r>
                      <a:endParaRPr lang="en-IN" sz="2000" dirty="0">
                        <a:solidFill>
                          <a:schemeClr val="tx2"/>
                        </a:solidFill>
                        <a:latin typeface="Times New Roman" panose="02020603050405020304" pitchFamily="18" charset="0"/>
                        <a:cs typeface="Times New Roman" panose="02020603050405020304" pitchFamily="18" charset="0"/>
                      </a:endParaRPr>
                    </a:p>
                    <a:p>
                      <a:pPr algn="ctr"/>
                      <a:endParaRPr lang="en-IN" sz="2000" dirty="0">
                        <a:solidFill>
                          <a:schemeClr val="tx2"/>
                        </a:solidFill>
                        <a:latin typeface="Times New Roman" panose="02020603050405020304" pitchFamily="18" charset="0"/>
                        <a:cs typeface="Times New Roman" panose="02020603050405020304" pitchFamily="18" charset="0"/>
                      </a:endParaRPr>
                    </a:p>
                  </a:txBody>
                  <a:tcPr/>
                </a:tc>
                <a:tc>
                  <a:txBody>
                    <a:bodyPr/>
                    <a:lstStyle/>
                    <a:p>
                      <a:pPr algn="ctr"/>
                      <a:r>
                        <a:rPr lang="en-IN" sz="2000" dirty="0">
                          <a:solidFill>
                            <a:schemeClr val="accent1">
                              <a:lumMod val="75000"/>
                            </a:schemeClr>
                          </a:solidFill>
                          <a:latin typeface="Times New Roman" panose="02020603050405020304" pitchFamily="18" charset="0"/>
                          <a:cs typeface="Times New Roman" panose="02020603050405020304" pitchFamily="18" charset="0"/>
                        </a:rPr>
                        <a:t>0.34935542</a:t>
                      </a:r>
                    </a:p>
                  </a:txBody>
                  <a:tcPr anchor="ctr"/>
                </a:tc>
                <a:tc>
                  <a:txBody>
                    <a:bodyPr/>
                    <a:lstStyle/>
                    <a:p>
                      <a:pPr algn="ctr"/>
                      <a:r>
                        <a:rPr lang="en-IN" sz="2000" dirty="0">
                          <a:solidFill>
                            <a:schemeClr val="accent1">
                              <a:lumMod val="75000"/>
                            </a:schemeClr>
                          </a:solidFill>
                          <a:latin typeface="Times New Roman" panose="02020603050405020304" pitchFamily="18" charset="0"/>
                          <a:cs typeface="Times New Roman" panose="02020603050405020304" pitchFamily="18" charset="0"/>
                        </a:rPr>
                        <a:t>0.49782188</a:t>
                      </a:r>
                    </a:p>
                  </a:txBody>
                  <a:tcPr anchor="ctr"/>
                </a:tc>
                <a:tc>
                  <a:txBody>
                    <a:bodyPr/>
                    <a:lstStyle/>
                    <a:p>
                      <a:pPr algn="ctr"/>
                      <a:r>
                        <a:rPr lang="en-IN" sz="2000" dirty="0">
                          <a:solidFill>
                            <a:schemeClr val="accent1">
                              <a:lumMod val="75000"/>
                            </a:schemeClr>
                          </a:solidFill>
                          <a:latin typeface="Times New Roman" panose="02020603050405020304" pitchFamily="18" charset="0"/>
                          <a:cs typeface="Times New Roman" panose="02020603050405020304" pitchFamily="18" charset="0"/>
                        </a:rPr>
                        <a:t>0.15282269</a:t>
                      </a:r>
                    </a:p>
                  </a:txBody>
                  <a:tcPr anchor="ctr"/>
                </a:tc>
                <a:extLst>
                  <a:ext uri="{0D108BD9-81ED-4DB2-BD59-A6C34878D82A}">
                    <a16:rowId xmlns:a16="http://schemas.microsoft.com/office/drawing/2014/main" val="50915475"/>
                  </a:ext>
                </a:extLst>
              </a:tr>
              <a:tr h="6934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tx2"/>
                          </a:solidFill>
                          <a:latin typeface="Times New Roman" panose="02020603050405020304" pitchFamily="18" charset="0"/>
                          <a:cs typeface="Times New Roman" panose="02020603050405020304" pitchFamily="18" charset="0"/>
                        </a:rPr>
                        <a:t>Ponzi</a:t>
                      </a:r>
                      <a:endParaRPr lang="en-IN" sz="2000" dirty="0">
                        <a:solidFill>
                          <a:schemeClr val="tx2"/>
                        </a:solidFill>
                        <a:latin typeface="Times New Roman" panose="02020603050405020304" pitchFamily="18" charset="0"/>
                        <a:cs typeface="Times New Roman" panose="02020603050405020304" pitchFamily="18" charset="0"/>
                      </a:endParaRPr>
                    </a:p>
                    <a:p>
                      <a:pPr algn="ctr"/>
                      <a:endParaRPr lang="en-IN" sz="2000" dirty="0">
                        <a:solidFill>
                          <a:schemeClr val="tx2"/>
                        </a:solidFill>
                        <a:latin typeface="Times New Roman" panose="02020603050405020304" pitchFamily="18" charset="0"/>
                        <a:cs typeface="Times New Roman" panose="02020603050405020304" pitchFamily="18" charset="0"/>
                      </a:endParaRPr>
                    </a:p>
                  </a:txBody>
                  <a:tcPr/>
                </a:tc>
                <a:tc>
                  <a:txBody>
                    <a:bodyPr/>
                    <a:lstStyle/>
                    <a:p>
                      <a:pPr algn="ctr"/>
                      <a:r>
                        <a:rPr lang="en-US" sz="2000" dirty="0">
                          <a:solidFill>
                            <a:schemeClr val="accent1">
                              <a:lumMod val="75000"/>
                            </a:schemeClr>
                          </a:solidFill>
                          <a:latin typeface="Times New Roman" panose="02020603050405020304" pitchFamily="18" charset="0"/>
                          <a:cs typeface="Times New Roman" panose="02020603050405020304" pitchFamily="18" charset="0"/>
                        </a:rPr>
                        <a:t>0</a:t>
                      </a:r>
                      <a:endParaRPr lang="en-IN" sz="2000" dirty="0">
                        <a:solidFill>
                          <a:schemeClr val="accent1">
                            <a:lumMod val="75000"/>
                          </a:schemeClr>
                        </a:solidFill>
                        <a:latin typeface="Times New Roman" panose="02020603050405020304" pitchFamily="18" charset="0"/>
                        <a:cs typeface="Times New Roman" panose="02020603050405020304" pitchFamily="18" charset="0"/>
                      </a:endParaRPr>
                    </a:p>
                  </a:txBody>
                  <a:tcPr anchor="ctr"/>
                </a:tc>
                <a:tc>
                  <a:txBody>
                    <a:bodyPr/>
                    <a:lstStyle/>
                    <a:p>
                      <a:pPr algn="ctr"/>
                      <a:r>
                        <a:rPr lang="en-IN" sz="2000" dirty="0">
                          <a:solidFill>
                            <a:schemeClr val="accent1">
                              <a:lumMod val="75000"/>
                            </a:schemeClr>
                          </a:solidFill>
                          <a:latin typeface="Times New Roman" panose="02020603050405020304" pitchFamily="18" charset="0"/>
                          <a:cs typeface="Times New Roman" panose="02020603050405020304" pitchFamily="18" charset="0"/>
                        </a:rPr>
                        <a:t>0.26097447</a:t>
                      </a:r>
                    </a:p>
                  </a:txBody>
                  <a:tcPr anchor="ctr"/>
                </a:tc>
                <a:tc>
                  <a:txBody>
                    <a:bodyPr/>
                    <a:lstStyle/>
                    <a:p>
                      <a:pPr algn="ctr"/>
                      <a:r>
                        <a:rPr lang="en-IN" sz="2000" dirty="0">
                          <a:solidFill>
                            <a:schemeClr val="accent1">
                              <a:lumMod val="75000"/>
                            </a:schemeClr>
                          </a:solidFill>
                          <a:latin typeface="Times New Roman" panose="02020603050405020304" pitchFamily="18" charset="0"/>
                          <a:cs typeface="Times New Roman" panose="02020603050405020304" pitchFamily="18" charset="0"/>
                        </a:rPr>
                        <a:t>0.73902553</a:t>
                      </a:r>
                    </a:p>
                  </a:txBody>
                  <a:tcPr anchor="ctr"/>
                </a:tc>
                <a:extLst>
                  <a:ext uri="{0D108BD9-81ED-4DB2-BD59-A6C34878D82A}">
                    <a16:rowId xmlns:a16="http://schemas.microsoft.com/office/drawing/2014/main" val="4179994209"/>
                  </a:ext>
                </a:extLst>
              </a:tr>
            </a:tbl>
          </a:graphicData>
        </a:graphic>
      </p:graphicFrame>
      <p:sp>
        <p:nvSpPr>
          <p:cNvPr id="33" name="Rectangle 32">
            <a:extLst>
              <a:ext uri="{FF2B5EF4-FFF2-40B4-BE49-F238E27FC236}">
                <a16:creationId xmlns:a16="http://schemas.microsoft.com/office/drawing/2014/main" id="{E0068336-AE7D-4712-B66E-AF6085843C88}"/>
              </a:ext>
            </a:extLst>
          </p:cNvPr>
          <p:cNvSpPr/>
          <p:nvPr/>
        </p:nvSpPr>
        <p:spPr>
          <a:xfrm>
            <a:off x="1930752" y="1641300"/>
            <a:ext cx="2490361" cy="584775"/>
          </a:xfrm>
          <a:prstGeom prst="rect">
            <a:avLst/>
          </a:prstGeom>
          <a:noFill/>
        </p:spPr>
        <p:txBody>
          <a:bodyPr wrap="none" lIns="91440" tIns="45720" rIns="91440" bIns="45720">
            <a:spAutoFit/>
          </a:bodyPr>
          <a:lstStyle/>
          <a:p>
            <a:pPr algn="ctr"/>
            <a:r>
              <a:rPr lang="en-US" sz="32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Original TPM</a:t>
            </a:r>
          </a:p>
        </p:txBody>
      </p:sp>
      <p:sp>
        <p:nvSpPr>
          <p:cNvPr id="34" name="Rectangle 33">
            <a:extLst>
              <a:ext uri="{FF2B5EF4-FFF2-40B4-BE49-F238E27FC236}">
                <a16:creationId xmlns:a16="http://schemas.microsoft.com/office/drawing/2014/main" id="{362E77BD-38BC-F370-4DAB-909C9D699DC9}"/>
              </a:ext>
            </a:extLst>
          </p:cNvPr>
          <p:cNvSpPr/>
          <p:nvPr/>
        </p:nvSpPr>
        <p:spPr>
          <a:xfrm>
            <a:off x="6732024" y="1641299"/>
            <a:ext cx="4915705" cy="584775"/>
          </a:xfrm>
          <a:prstGeom prst="rect">
            <a:avLst/>
          </a:prstGeom>
          <a:noFill/>
        </p:spPr>
        <p:txBody>
          <a:bodyPr wrap="none" lIns="91440" tIns="45720" rIns="91440" bIns="45720">
            <a:spAutoFit/>
          </a:bodyPr>
          <a:lstStyle/>
          <a:p>
            <a:pPr algn="ctr"/>
            <a:r>
              <a:rPr lang="en-US" sz="32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Empirical TPM (Simulation)</a:t>
            </a:r>
            <a:endParaRPr lang="en-US" sz="3200" b="0"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1141316"/>
      </p:ext>
    </p:extLst>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D4E5F8-F857-8AA8-012B-9C8324E2DDCE}"/>
              </a:ext>
            </a:extLst>
          </p:cNvPr>
          <p:cNvSpPr/>
          <p:nvPr/>
        </p:nvSpPr>
        <p:spPr>
          <a:xfrm>
            <a:off x="3171161" y="28135"/>
            <a:ext cx="5849678" cy="830997"/>
          </a:xfrm>
          <a:prstGeom prst="rect">
            <a:avLst/>
          </a:prstGeom>
          <a:noFill/>
        </p:spPr>
        <p:txBody>
          <a:bodyPr wrap="none" lIns="91440" tIns="45720" rIns="91440" bIns="45720">
            <a:spAutoFit/>
          </a:bodyPr>
          <a:lstStyle/>
          <a:p>
            <a:pPr algn="ctr"/>
            <a:r>
              <a:rPr lang="en-US" sz="48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rPr>
              <a:t>Limiting Distribution</a:t>
            </a:r>
          </a:p>
        </p:txBody>
      </p:sp>
      <p:graphicFrame>
        <p:nvGraphicFramePr>
          <p:cNvPr id="3" name="Table 2">
            <a:extLst>
              <a:ext uri="{FF2B5EF4-FFF2-40B4-BE49-F238E27FC236}">
                <a16:creationId xmlns:a16="http://schemas.microsoft.com/office/drawing/2014/main" id="{97D1E6BD-0CDF-4ED1-1B55-E1AA648E44EB}"/>
              </a:ext>
            </a:extLst>
          </p:cNvPr>
          <p:cNvGraphicFramePr>
            <a:graphicFrameLocks noGrp="1"/>
          </p:cNvGraphicFramePr>
          <p:nvPr>
            <p:extLst>
              <p:ext uri="{D42A27DB-BD31-4B8C-83A1-F6EECF244321}">
                <p14:modId xmlns:p14="http://schemas.microsoft.com/office/powerpoint/2010/main" val="2550225140"/>
              </p:ext>
            </p:extLst>
          </p:nvPr>
        </p:nvGraphicFramePr>
        <p:xfrm>
          <a:off x="1910413" y="4230729"/>
          <a:ext cx="8371173" cy="1574458"/>
        </p:xfrm>
        <a:graphic>
          <a:graphicData uri="http://schemas.openxmlformats.org/drawingml/2006/table">
            <a:tbl>
              <a:tblPr firstRow="1" bandRow="1">
                <a:tableStyleId>{5C22544A-7EE6-4342-B048-85BDC9FD1C3A}</a:tableStyleId>
              </a:tblPr>
              <a:tblGrid>
                <a:gridCol w="2790391">
                  <a:extLst>
                    <a:ext uri="{9D8B030D-6E8A-4147-A177-3AD203B41FA5}">
                      <a16:colId xmlns:a16="http://schemas.microsoft.com/office/drawing/2014/main" val="3805796788"/>
                    </a:ext>
                  </a:extLst>
                </a:gridCol>
                <a:gridCol w="2790391">
                  <a:extLst>
                    <a:ext uri="{9D8B030D-6E8A-4147-A177-3AD203B41FA5}">
                      <a16:colId xmlns:a16="http://schemas.microsoft.com/office/drawing/2014/main" val="1526749848"/>
                    </a:ext>
                  </a:extLst>
                </a:gridCol>
                <a:gridCol w="2790391">
                  <a:extLst>
                    <a:ext uri="{9D8B030D-6E8A-4147-A177-3AD203B41FA5}">
                      <a16:colId xmlns:a16="http://schemas.microsoft.com/office/drawing/2014/main" val="2217687221"/>
                    </a:ext>
                  </a:extLst>
                </a:gridCol>
              </a:tblGrid>
              <a:tr h="719391">
                <a:tc>
                  <a:txBody>
                    <a:bodyPr/>
                    <a:lstStyle/>
                    <a:p>
                      <a:pPr algn="ctr"/>
                      <a:r>
                        <a:rPr lang="en-US" sz="2400" dirty="0">
                          <a:latin typeface="Times New Roman" panose="02020603050405020304" pitchFamily="18" charset="0"/>
                          <a:cs typeface="Times New Roman" panose="02020603050405020304" pitchFamily="18" charset="0"/>
                        </a:rPr>
                        <a:t>Hedge</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dirty="0">
                          <a:latin typeface="Times New Roman" panose="02020603050405020304" pitchFamily="18" charset="0"/>
                          <a:cs typeface="Times New Roman" panose="02020603050405020304" pitchFamily="18" charset="0"/>
                        </a:rPr>
                        <a:t>Speculative</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dirty="0">
                          <a:latin typeface="Times New Roman" panose="02020603050405020304" pitchFamily="18" charset="0"/>
                          <a:cs typeface="Times New Roman" panose="02020603050405020304" pitchFamily="18" charset="0"/>
                        </a:rPr>
                        <a:t>Ponzi</a:t>
                      </a:r>
                      <a:endParaRPr lang="en-IN"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053190413"/>
                  </a:ext>
                </a:extLst>
              </a:tr>
              <a:tr h="855067">
                <a:tc>
                  <a:txBody>
                    <a:bodyPr/>
                    <a:lstStyle/>
                    <a:p>
                      <a:pPr algn="ctr"/>
                      <a:r>
                        <a:rPr lang="en-US" sz="2000" dirty="0">
                          <a:solidFill>
                            <a:schemeClr val="accent2">
                              <a:lumMod val="75000"/>
                            </a:schemeClr>
                          </a:solidFill>
                          <a:latin typeface="Times New Roman" panose="02020603050405020304" pitchFamily="18" charset="0"/>
                          <a:cs typeface="Times New Roman" panose="02020603050405020304" pitchFamily="18" charset="0"/>
                        </a:rPr>
                        <a:t>0.7967</a:t>
                      </a:r>
                      <a:endParaRPr lang="en-IN" sz="2000" dirty="0">
                        <a:solidFill>
                          <a:schemeClr val="accent2">
                            <a:lumMod val="75000"/>
                          </a:schemeClr>
                        </a:solidFill>
                        <a:latin typeface="Times New Roman" panose="02020603050405020304" pitchFamily="18" charset="0"/>
                        <a:cs typeface="Times New Roman" panose="02020603050405020304" pitchFamily="18" charset="0"/>
                      </a:endParaRPr>
                    </a:p>
                  </a:txBody>
                  <a:tcPr anchor="ctr"/>
                </a:tc>
                <a:tc>
                  <a:txBody>
                    <a:bodyPr/>
                    <a:lstStyle/>
                    <a:p>
                      <a:pPr algn="ctr"/>
                      <a:r>
                        <a:rPr lang="en-US" sz="2000" dirty="0">
                          <a:solidFill>
                            <a:schemeClr val="accent2">
                              <a:lumMod val="75000"/>
                            </a:schemeClr>
                          </a:solidFill>
                          <a:latin typeface="Times New Roman" panose="02020603050405020304" pitchFamily="18" charset="0"/>
                          <a:cs typeface="Times New Roman" panose="02020603050405020304" pitchFamily="18" charset="0"/>
                        </a:rPr>
                        <a:t>0.1279</a:t>
                      </a:r>
                      <a:endParaRPr lang="en-IN" sz="2000" dirty="0">
                        <a:solidFill>
                          <a:schemeClr val="accent2">
                            <a:lumMod val="75000"/>
                          </a:schemeClr>
                        </a:solidFill>
                        <a:latin typeface="Times New Roman" panose="02020603050405020304" pitchFamily="18" charset="0"/>
                        <a:cs typeface="Times New Roman" panose="02020603050405020304" pitchFamily="18" charset="0"/>
                      </a:endParaRPr>
                    </a:p>
                  </a:txBody>
                  <a:tcPr anchor="ctr"/>
                </a:tc>
                <a:tc>
                  <a:txBody>
                    <a:bodyPr/>
                    <a:lstStyle/>
                    <a:p>
                      <a:pPr algn="ctr"/>
                      <a:r>
                        <a:rPr lang="en-US" sz="2000" dirty="0">
                          <a:solidFill>
                            <a:schemeClr val="accent2">
                              <a:lumMod val="75000"/>
                            </a:schemeClr>
                          </a:solidFill>
                          <a:latin typeface="Times New Roman" panose="02020603050405020304" pitchFamily="18" charset="0"/>
                          <a:cs typeface="Times New Roman" panose="02020603050405020304" pitchFamily="18" charset="0"/>
                        </a:rPr>
                        <a:t>0.0754</a:t>
                      </a:r>
                      <a:endParaRPr lang="en-IN" sz="2000" dirty="0">
                        <a:solidFill>
                          <a:schemeClr val="accent2">
                            <a:lumMod val="75000"/>
                          </a:schemeClr>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654389"/>
                  </a:ext>
                </a:extLst>
              </a:tr>
            </a:tbl>
          </a:graphicData>
        </a:graphic>
      </p:graphicFrame>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8919650E-D354-B881-60DB-765C4EF09805}"/>
                  </a:ext>
                </a:extLst>
              </p:cNvPr>
              <p:cNvSpPr/>
              <p:nvPr/>
            </p:nvSpPr>
            <p:spPr>
              <a:xfrm>
                <a:off x="414728" y="1827875"/>
                <a:ext cx="11362544" cy="1434111"/>
              </a:xfrm>
              <a:prstGeom prst="rect">
                <a:avLst/>
              </a:prstGeom>
              <a:noFill/>
            </p:spPr>
            <p:txBody>
              <a:bodyPr wrap="square" lIns="91440" tIns="45720" rIns="91440" bIns="45720">
                <a:spAutoFit/>
              </a:bodyPr>
              <a:lstStyle/>
              <a:p>
                <a:pPr algn="ctr"/>
                <a:r>
                  <a:rPr lang="en-US" sz="28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The probability distribution π=[π0,π1,π2,⋯] is called the limiting distribution of the Markov chain </a:t>
                </a:r>
                <a14:m>
                  <m:oMath xmlns:m="http://schemas.openxmlformats.org/officeDocument/2006/math">
                    <m:sSub>
                      <m:sSubPr>
                        <m:ctrlP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ctrlPr>
                      </m:sSubPr>
                      <m:e>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t>𝑋</m:t>
                        </m:r>
                      </m:e>
                      <m:sub>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t>𝑛</m:t>
                        </m:r>
                      </m:sub>
                    </m:sSub>
                  </m:oMath>
                </a14:m>
                <a:r>
                  <a:rPr lang="en-US" sz="2800" i="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t>
                </a:r>
                <a:r>
                  <a:rPr lang="en-US" sz="28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if,</a:t>
                </a:r>
              </a:p>
              <a:p>
                <a:pPr algn="ctr"/>
                <a:r>
                  <a:rPr lang="en-US" sz="2800" i="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𝜋</m:t>
                        </m:r>
                      </m:e>
                      <m:sub>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𝑗</m:t>
                        </m:r>
                      </m:sub>
                    </m:sSub>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m:t>
                    </m:r>
                    <m:func>
                      <m:funcPr>
                        <m:ctrlP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funcPr>
                      <m:fName>
                        <m:limLow>
                          <m:limLowPr>
                            <m:ctrlP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limLowPr>
                          <m:e>
                            <m:r>
                              <m:rPr>
                                <m:sty m:val="p"/>
                              </m:rPr>
                              <a:rPr lang="en-US" sz="2800" b="0" i="0"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lim</m:t>
                            </m:r>
                          </m:e>
                          <m:lim>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𝑛</m:t>
                            </m:r>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 → ∞</m:t>
                            </m:r>
                          </m:lim>
                        </m:limLow>
                      </m:fName>
                      <m:e>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𝑃</m:t>
                        </m:r>
                        <m:d>
                          <m:dPr>
                            <m:ctrlP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𝑋</m:t>
                                </m:r>
                              </m:e>
                              <m:sub>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𝑛</m:t>
                                </m:r>
                              </m:sub>
                            </m:sSub>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m:t>
                            </m:r>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𝑗</m:t>
                            </m:r>
                          </m:e>
                          <m:e>
                            <m:sSub>
                              <m:sSubPr>
                                <m:ctrlP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𝑋</m:t>
                                </m:r>
                              </m:e>
                              <m:sub>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0</m:t>
                                </m:r>
                              </m:sub>
                            </m:sSub>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m:t>
                            </m:r>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𝑖</m:t>
                            </m:r>
                          </m:e>
                        </m:d>
                      </m:e>
                    </m:func>
                  </m:oMath>
                </a14:m>
                <a:r>
                  <a:rPr lang="en-US" sz="28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for all </a:t>
                </a:r>
                <a14:m>
                  <m:oMath xmlns:m="http://schemas.openxmlformats.org/officeDocument/2006/math">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t>𝑖</m:t>
                    </m:r>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t>, </m:t>
                    </m:r>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t>𝑗</m:t>
                    </m:r>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m:t>
                    </m:r>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𝑆</m:t>
                    </m:r>
                  </m:oMath>
                </a14:m>
                <a:r>
                  <a:rPr lang="en-US" sz="28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and we have </a:t>
                </a:r>
                <a14:m>
                  <m:oMath xmlns:m="http://schemas.openxmlformats.org/officeDocument/2006/math">
                    <m:nary>
                      <m:naryPr>
                        <m:chr m:val="∑"/>
                        <m:ctrlP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ctrlPr>
                      </m:naryPr>
                      <m:sub>
                        <m:r>
                          <m:rPr>
                            <m:brk m:alnAt="23"/>
                          </m:rP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t>𝑗</m:t>
                        </m:r>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t> ∈ </m:t>
                        </m:r>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𝑆</m:t>
                        </m:r>
                      </m:sub>
                      <m:sup>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t> </m:t>
                        </m:r>
                      </m:sup>
                      <m:e>
                        <m:sSub>
                          <m:sSubPr>
                            <m:ctrlP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𝜋</m:t>
                            </m:r>
                          </m:e>
                          <m:sub>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𝑗</m:t>
                            </m:r>
                          </m:sub>
                        </m:sSub>
                      </m:e>
                    </m:nary>
                    <m:r>
                      <a:rPr lang="en-US" sz="2800" b="0" i="1" cap="none" spc="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t>=1</m:t>
                    </m:r>
                  </m:oMath>
                </a14:m>
                <a:endParaRPr lang="en-US" sz="28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mc:Choice>
        <mc:Fallback xmlns="">
          <p:sp>
            <p:nvSpPr>
              <p:cNvPr id="4" name="Rectangle 3">
                <a:extLst>
                  <a:ext uri="{FF2B5EF4-FFF2-40B4-BE49-F238E27FC236}">
                    <a16:creationId xmlns:a16="http://schemas.microsoft.com/office/drawing/2014/main" id="{8919650E-D354-B881-60DB-765C4EF09805}"/>
                  </a:ext>
                </a:extLst>
              </p:cNvPr>
              <p:cNvSpPr>
                <a:spLocks noRot="1" noChangeAspect="1" noMove="1" noResize="1" noEditPoints="1" noAdjustHandles="1" noChangeArrowheads="1" noChangeShapeType="1" noTextEdit="1"/>
              </p:cNvSpPr>
              <p:nvPr/>
            </p:nvSpPr>
            <p:spPr>
              <a:xfrm>
                <a:off x="414728" y="1827875"/>
                <a:ext cx="11362544" cy="1434111"/>
              </a:xfrm>
              <a:prstGeom prst="rect">
                <a:avLst/>
              </a:prstGeom>
              <a:blipFill>
                <a:blip r:embed="rId2"/>
                <a:stretch>
                  <a:fillRect l="-912" t="-5532" r="-1717" b="-9787"/>
                </a:stretch>
              </a:blipFill>
            </p:spPr>
            <p:txBody>
              <a:bodyPr/>
              <a:lstStyle/>
              <a:p>
                <a:r>
                  <a:rPr lang="en-IN">
                    <a:noFill/>
                  </a:rPr>
                  <a:t> </a:t>
                </a:r>
              </a:p>
            </p:txBody>
          </p:sp>
        </mc:Fallback>
      </mc:AlternateContent>
    </p:spTree>
    <p:extLst>
      <p:ext uri="{BB962C8B-B14F-4D97-AF65-F5344CB8AC3E}">
        <p14:creationId xmlns:p14="http://schemas.microsoft.com/office/powerpoint/2010/main" val="1239972650"/>
      </p:ext>
    </p:extLst>
  </p:cSld>
  <p:clrMapOvr>
    <a:masterClrMapping/>
  </p:clrMapOvr>
  <p:transition spd="med">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D5754CE-000C-E3B9-4166-8A05B604B448}"/>
              </a:ext>
            </a:extLst>
          </p:cNvPr>
          <p:cNvSpPr/>
          <p:nvPr/>
        </p:nvSpPr>
        <p:spPr>
          <a:xfrm>
            <a:off x="3890516" y="4866304"/>
            <a:ext cx="670560" cy="696685"/>
          </a:xfrm>
          <a:prstGeom prst="ellipse">
            <a:avLst/>
          </a:prstGeom>
          <a:noFill/>
          <a:ln w="10160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002060"/>
                </a:solidFill>
                <a:latin typeface="Times New Roman" panose="02020603050405020304" pitchFamily="18" charset="0"/>
                <a:cs typeface="Times New Roman" panose="02020603050405020304" pitchFamily="18" charset="0"/>
              </a:rPr>
              <a:t>01</a:t>
            </a:r>
            <a:endParaRPr lang="en-GB" dirty="0">
              <a:solidFill>
                <a:srgbClr val="002060"/>
              </a:solidFill>
              <a:latin typeface="Times New Roman" panose="02020603050405020304" pitchFamily="18" charset="0"/>
              <a:cs typeface="Times New Roman" panose="02020603050405020304" pitchFamily="18" charset="0"/>
            </a:endParaRPr>
          </a:p>
        </p:txBody>
      </p:sp>
      <p:sp>
        <p:nvSpPr>
          <p:cNvPr id="3" name="Oval 2">
            <a:extLst>
              <a:ext uri="{FF2B5EF4-FFF2-40B4-BE49-F238E27FC236}">
                <a16:creationId xmlns:a16="http://schemas.microsoft.com/office/drawing/2014/main" id="{AC39BFEA-6E9D-5710-69A5-34FBF6FC384F}"/>
              </a:ext>
            </a:extLst>
          </p:cNvPr>
          <p:cNvSpPr/>
          <p:nvPr/>
        </p:nvSpPr>
        <p:spPr>
          <a:xfrm>
            <a:off x="3955838" y="3649821"/>
            <a:ext cx="670560" cy="696685"/>
          </a:xfrm>
          <a:prstGeom prst="ellipse">
            <a:avLst/>
          </a:prstGeom>
          <a:noFill/>
          <a:ln w="1016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02</a:t>
            </a:r>
            <a:endParaRPr lang="en-GB" dirty="0">
              <a:solidFill>
                <a:schemeClr val="tx1"/>
              </a:solidFill>
              <a:latin typeface="Times New Roman" panose="02020603050405020304" pitchFamily="18" charset="0"/>
              <a:cs typeface="Times New Roman" panose="02020603050405020304" pitchFamily="18" charset="0"/>
            </a:endParaRPr>
          </a:p>
        </p:txBody>
      </p:sp>
      <p:sp>
        <p:nvSpPr>
          <p:cNvPr id="4" name="Oval 3">
            <a:extLst>
              <a:ext uri="{FF2B5EF4-FFF2-40B4-BE49-F238E27FC236}">
                <a16:creationId xmlns:a16="http://schemas.microsoft.com/office/drawing/2014/main" id="{72013F9A-06CD-B6F8-3E29-71AA38AC05C0}"/>
              </a:ext>
            </a:extLst>
          </p:cNvPr>
          <p:cNvSpPr/>
          <p:nvPr/>
        </p:nvSpPr>
        <p:spPr>
          <a:xfrm>
            <a:off x="4541035" y="2644621"/>
            <a:ext cx="670560" cy="696685"/>
          </a:xfrm>
          <a:prstGeom prst="ellipse">
            <a:avLst/>
          </a:prstGeom>
          <a:noFill/>
          <a:ln w="1016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03</a:t>
            </a:r>
            <a:endParaRPr lang="en-GB" dirty="0">
              <a:solidFill>
                <a:schemeClr val="tx1"/>
              </a:solidFill>
              <a:latin typeface="Times New Roman" panose="02020603050405020304" pitchFamily="18" charset="0"/>
              <a:cs typeface="Times New Roman" panose="02020603050405020304" pitchFamily="18" charset="0"/>
            </a:endParaRPr>
          </a:p>
        </p:txBody>
      </p:sp>
      <p:sp>
        <p:nvSpPr>
          <p:cNvPr id="5" name="Oval 4">
            <a:extLst>
              <a:ext uri="{FF2B5EF4-FFF2-40B4-BE49-F238E27FC236}">
                <a16:creationId xmlns:a16="http://schemas.microsoft.com/office/drawing/2014/main" id="{2A835F6D-8E0B-5F63-E1D8-17177BB74166}"/>
              </a:ext>
            </a:extLst>
          </p:cNvPr>
          <p:cNvSpPr/>
          <p:nvPr/>
        </p:nvSpPr>
        <p:spPr>
          <a:xfrm>
            <a:off x="7215087" y="2644620"/>
            <a:ext cx="670560" cy="696685"/>
          </a:xfrm>
          <a:prstGeom prst="ellipse">
            <a:avLst/>
          </a:prstGeom>
          <a:noFill/>
          <a:ln w="1016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05</a:t>
            </a:r>
            <a:endParaRPr lang="en-GB" dirty="0">
              <a:solidFill>
                <a:schemeClr val="tx1"/>
              </a:solidFill>
              <a:latin typeface="Times New Roman" panose="02020603050405020304" pitchFamily="18" charset="0"/>
              <a:cs typeface="Times New Roman" panose="02020603050405020304" pitchFamily="18" charset="0"/>
            </a:endParaRPr>
          </a:p>
        </p:txBody>
      </p:sp>
      <p:sp>
        <p:nvSpPr>
          <p:cNvPr id="6" name="Oval 5">
            <a:extLst>
              <a:ext uri="{FF2B5EF4-FFF2-40B4-BE49-F238E27FC236}">
                <a16:creationId xmlns:a16="http://schemas.microsoft.com/office/drawing/2014/main" id="{70EF6545-D97C-FFEF-06E1-0C2ED81CBE1C}"/>
              </a:ext>
            </a:extLst>
          </p:cNvPr>
          <p:cNvSpPr/>
          <p:nvPr/>
        </p:nvSpPr>
        <p:spPr>
          <a:xfrm>
            <a:off x="5861099" y="2223921"/>
            <a:ext cx="670560" cy="696685"/>
          </a:xfrm>
          <a:prstGeom prst="ellipse">
            <a:avLst/>
          </a:prstGeom>
          <a:noFill/>
          <a:ln w="1016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04</a:t>
            </a:r>
            <a:endParaRPr lang="en-GB" dirty="0">
              <a:solidFill>
                <a:schemeClr val="tx1"/>
              </a:solidFill>
              <a:latin typeface="Times New Roman" panose="02020603050405020304" pitchFamily="18" charset="0"/>
              <a:cs typeface="Times New Roman" panose="02020603050405020304" pitchFamily="18" charset="0"/>
            </a:endParaRPr>
          </a:p>
        </p:txBody>
      </p:sp>
      <p:pic>
        <p:nvPicPr>
          <p:cNvPr id="7" name="Picture 4" descr="Alert error warning icon black color">
            <a:extLst>
              <a:ext uri="{FF2B5EF4-FFF2-40B4-BE49-F238E27FC236}">
                <a16:creationId xmlns:a16="http://schemas.microsoft.com/office/drawing/2014/main" id="{8CD20F9D-E01B-8D8E-6A02-2157A70BFE4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318" t="12157" r="13596" b="13401"/>
          <a:stretch/>
        </p:blipFill>
        <p:spPr bwMode="auto">
          <a:xfrm>
            <a:off x="5044640" y="3429000"/>
            <a:ext cx="2335867" cy="246908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3765C01-3AC0-8E05-D9F5-9190782CB0CC}"/>
              </a:ext>
            </a:extLst>
          </p:cNvPr>
          <p:cNvSpPr txBox="1"/>
          <p:nvPr/>
        </p:nvSpPr>
        <p:spPr>
          <a:xfrm>
            <a:off x="1858086" y="5076147"/>
            <a:ext cx="2097752" cy="646331"/>
          </a:xfrm>
          <a:prstGeom prst="rect">
            <a:avLst/>
          </a:prstGeom>
          <a:noFill/>
        </p:spPr>
        <p:txBody>
          <a:bodyPr wrap="square">
            <a:spAutoFit/>
          </a:bodyPr>
          <a:lstStyle/>
          <a:p>
            <a:r>
              <a:rPr lang="en-IN"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Small Sample size (35 Companies)</a:t>
            </a:r>
          </a:p>
        </p:txBody>
      </p:sp>
      <p:sp>
        <p:nvSpPr>
          <p:cNvPr id="9" name="TextBox 8">
            <a:extLst>
              <a:ext uri="{FF2B5EF4-FFF2-40B4-BE49-F238E27FC236}">
                <a16:creationId xmlns:a16="http://schemas.microsoft.com/office/drawing/2014/main" id="{6ABFF553-5D90-CF7C-5852-F3D4785693CB}"/>
              </a:ext>
            </a:extLst>
          </p:cNvPr>
          <p:cNvSpPr txBox="1"/>
          <p:nvPr/>
        </p:nvSpPr>
        <p:spPr>
          <a:xfrm>
            <a:off x="2417656" y="3603985"/>
            <a:ext cx="1808140" cy="646331"/>
          </a:xfrm>
          <a:prstGeom prst="rect">
            <a:avLst/>
          </a:prstGeom>
          <a:noFill/>
        </p:spPr>
        <p:txBody>
          <a:bodyPr wrap="square">
            <a:spAutoFit/>
          </a:bodyPr>
          <a:lstStyle/>
          <a:p>
            <a:r>
              <a:rPr lang="en-IN" i="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Single-period Framework</a:t>
            </a:r>
          </a:p>
        </p:txBody>
      </p:sp>
      <p:sp>
        <p:nvSpPr>
          <p:cNvPr id="10" name="TextBox 9">
            <a:extLst>
              <a:ext uri="{FF2B5EF4-FFF2-40B4-BE49-F238E27FC236}">
                <a16:creationId xmlns:a16="http://schemas.microsoft.com/office/drawing/2014/main" id="{82BEAC33-498A-26F6-E0BD-8420175F19AF}"/>
              </a:ext>
            </a:extLst>
          </p:cNvPr>
          <p:cNvSpPr txBox="1"/>
          <p:nvPr/>
        </p:nvSpPr>
        <p:spPr>
          <a:xfrm>
            <a:off x="2911986" y="2232933"/>
            <a:ext cx="2301756" cy="646331"/>
          </a:xfrm>
          <a:prstGeom prst="rect">
            <a:avLst/>
          </a:prstGeom>
          <a:noFill/>
        </p:spPr>
        <p:txBody>
          <a:bodyPr wrap="square">
            <a:spAutoFit/>
          </a:bodyPr>
          <a:lstStyle/>
          <a:p>
            <a:r>
              <a:rPr lang="en-IN"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Requirement of Market Data</a:t>
            </a:r>
          </a:p>
        </p:txBody>
      </p:sp>
      <p:sp>
        <p:nvSpPr>
          <p:cNvPr id="11" name="TextBox 10">
            <a:extLst>
              <a:ext uri="{FF2B5EF4-FFF2-40B4-BE49-F238E27FC236}">
                <a16:creationId xmlns:a16="http://schemas.microsoft.com/office/drawing/2014/main" id="{8796EFCB-84F8-2CFC-6EB8-B580F3FD1FED}"/>
              </a:ext>
            </a:extLst>
          </p:cNvPr>
          <p:cNvSpPr txBox="1"/>
          <p:nvPr/>
        </p:nvSpPr>
        <p:spPr>
          <a:xfrm>
            <a:off x="5607061" y="1090087"/>
            <a:ext cx="1849196" cy="923330"/>
          </a:xfrm>
          <a:prstGeom prst="rect">
            <a:avLst/>
          </a:prstGeom>
          <a:noFill/>
        </p:spPr>
        <p:txBody>
          <a:bodyPr wrap="square">
            <a:spAutoFit/>
          </a:bodyPr>
          <a:lstStyle/>
          <a:p>
            <a:r>
              <a:rPr lang="en-IN"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No consideration for liquidity constrains</a:t>
            </a:r>
          </a:p>
        </p:txBody>
      </p:sp>
      <p:sp>
        <p:nvSpPr>
          <p:cNvPr id="12" name="TextBox 11">
            <a:extLst>
              <a:ext uri="{FF2B5EF4-FFF2-40B4-BE49-F238E27FC236}">
                <a16:creationId xmlns:a16="http://schemas.microsoft.com/office/drawing/2014/main" id="{EB71BD56-A502-058F-BDA1-DD6D6A908C41}"/>
              </a:ext>
            </a:extLst>
          </p:cNvPr>
          <p:cNvSpPr txBox="1"/>
          <p:nvPr/>
        </p:nvSpPr>
        <p:spPr>
          <a:xfrm>
            <a:off x="7885647" y="2013417"/>
            <a:ext cx="1849196" cy="923330"/>
          </a:xfrm>
          <a:prstGeom prst="rect">
            <a:avLst/>
          </a:prstGeom>
          <a:noFill/>
        </p:spPr>
        <p:txBody>
          <a:bodyPr wrap="square">
            <a:spAutoFit/>
          </a:bodyPr>
          <a:lstStyle/>
          <a:p>
            <a:r>
              <a:rPr lang="en-IN"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Dependence on Financial Statements</a:t>
            </a:r>
          </a:p>
        </p:txBody>
      </p:sp>
      <p:sp>
        <p:nvSpPr>
          <p:cNvPr id="13" name="Oval 12">
            <a:extLst>
              <a:ext uri="{FF2B5EF4-FFF2-40B4-BE49-F238E27FC236}">
                <a16:creationId xmlns:a16="http://schemas.microsoft.com/office/drawing/2014/main" id="{1192FD51-5EEF-DE06-4757-C6237637B85A}"/>
              </a:ext>
            </a:extLst>
          </p:cNvPr>
          <p:cNvSpPr/>
          <p:nvPr/>
        </p:nvSpPr>
        <p:spPr>
          <a:xfrm>
            <a:off x="8094605" y="3755462"/>
            <a:ext cx="670560" cy="696685"/>
          </a:xfrm>
          <a:prstGeom prst="ellipse">
            <a:avLst/>
          </a:prstGeom>
          <a:noFill/>
          <a:ln w="10160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06</a:t>
            </a:r>
            <a:endParaRPr lang="en-GB" dirty="0">
              <a:solidFill>
                <a:schemeClr val="tx1"/>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A87C587E-2656-9718-8B52-147E21B33722}"/>
              </a:ext>
            </a:extLst>
          </p:cNvPr>
          <p:cNvSpPr txBox="1"/>
          <p:nvPr/>
        </p:nvSpPr>
        <p:spPr>
          <a:xfrm>
            <a:off x="9040540" y="4916657"/>
            <a:ext cx="1823351" cy="646331"/>
          </a:xfrm>
          <a:prstGeom prst="rect">
            <a:avLst/>
          </a:prstGeom>
          <a:noFill/>
        </p:spPr>
        <p:txBody>
          <a:bodyPr wrap="square">
            <a:spAutoFit/>
          </a:bodyPr>
          <a:lstStyle/>
          <a:p>
            <a:r>
              <a:rPr lang="en-IN"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Rotating cashflow</a:t>
            </a:r>
          </a:p>
        </p:txBody>
      </p:sp>
      <p:sp>
        <p:nvSpPr>
          <p:cNvPr id="15" name="Oval 14">
            <a:extLst>
              <a:ext uri="{FF2B5EF4-FFF2-40B4-BE49-F238E27FC236}">
                <a16:creationId xmlns:a16="http://schemas.microsoft.com/office/drawing/2014/main" id="{FFDC7CAA-D880-5B6B-ED8B-DDDC9B201366}"/>
              </a:ext>
            </a:extLst>
          </p:cNvPr>
          <p:cNvSpPr/>
          <p:nvPr/>
        </p:nvSpPr>
        <p:spPr>
          <a:xfrm>
            <a:off x="8199351" y="4866303"/>
            <a:ext cx="670560" cy="696685"/>
          </a:xfrm>
          <a:prstGeom prst="ellipse">
            <a:avLst/>
          </a:prstGeom>
          <a:noFill/>
          <a:ln w="1016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07</a:t>
            </a:r>
            <a:endParaRPr lang="en-GB" dirty="0">
              <a:solidFill>
                <a:schemeClr val="tx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C4C6E975-4F89-08E6-A748-2EB99AB9EA5D}"/>
              </a:ext>
            </a:extLst>
          </p:cNvPr>
          <p:cNvSpPr txBox="1"/>
          <p:nvPr/>
        </p:nvSpPr>
        <p:spPr>
          <a:xfrm>
            <a:off x="8966569" y="3711411"/>
            <a:ext cx="1334614" cy="646331"/>
          </a:xfrm>
          <a:prstGeom prst="rect">
            <a:avLst/>
          </a:prstGeom>
          <a:noFill/>
        </p:spPr>
        <p:txBody>
          <a:bodyPr wrap="square">
            <a:spAutoFit/>
          </a:bodyPr>
          <a:lstStyle/>
          <a:p>
            <a:r>
              <a:rPr lang="en-IN"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Continuous Trading</a:t>
            </a:r>
          </a:p>
        </p:txBody>
      </p:sp>
      <p:sp>
        <p:nvSpPr>
          <p:cNvPr id="19" name="Rectangle 18">
            <a:extLst>
              <a:ext uri="{FF2B5EF4-FFF2-40B4-BE49-F238E27FC236}">
                <a16:creationId xmlns:a16="http://schemas.microsoft.com/office/drawing/2014/main" id="{020BECBA-7F1B-DE0C-D302-8180B26300C7}"/>
              </a:ext>
            </a:extLst>
          </p:cNvPr>
          <p:cNvSpPr/>
          <p:nvPr/>
        </p:nvSpPr>
        <p:spPr>
          <a:xfrm>
            <a:off x="4850661" y="186408"/>
            <a:ext cx="2723824" cy="707886"/>
          </a:xfrm>
          <a:prstGeom prst="rect">
            <a:avLst/>
          </a:prstGeom>
          <a:noFill/>
        </p:spPr>
        <p:txBody>
          <a:bodyPr wrap="none" lIns="91440" tIns="45720" rIns="91440" bIns="45720">
            <a:spAutoFit/>
          </a:bodyPr>
          <a:lstStyle/>
          <a:p>
            <a:pPr algn="ctr"/>
            <a:r>
              <a:rPr lang="en-US" sz="40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Limitations</a:t>
            </a:r>
            <a:endParaRPr lang="en-US" sz="40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3965075"/>
      </p:ext>
    </p:extLst>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88E9E9B-586C-1500-8556-CBFC8DD8B824}"/>
              </a:ext>
            </a:extLst>
          </p:cNvPr>
          <p:cNvGrpSpPr/>
          <p:nvPr/>
        </p:nvGrpSpPr>
        <p:grpSpPr>
          <a:xfrm>
            <a:off x="227555" y="1262399"/>
            <a:ext cx="2654605" cy="4617895"/>
            <a:chOff x="623108" y="1981201"/>
            <a:chExt cx="1667114" cy="3202701"/>
          </a:xfrm>
        </p:grpSpPr>
        <p:sp>
          <p:nvSpPr>
            <p:cNvPr id="3" name="Freeform: Shape 2">
              <a:extLst>
                <a:ext uri="{FF2B5EF4-FFF2-40B4-BE49-F238E27FC236}">
                  <a16:creationId xmlns:a16="http://schemas.microsoft.com/office/drawing/2014/main" id="{F76BD89A-3846-939B-21EC-46C4A7F9A5C3}"/>
                </a:ext>
              </a:extLst>
            </p:cNvPr>
            <p:cNvSpPr/>
            <p:nvPr/>
          </p:nvSpPr>
          <p:spPr>
            <a:xfrm>
              <a:off x="623108" y="2324101"/>
              <a:ext cx="1667114" cy="2859801"/>
            </a:xfrm>
            <a:custGeom>
              <a:avLst/>
              <a:gdLst>
                <a:gd name="connsiteX0" fmla="*/ 140705 w 1667114"/>
                <a:gd name="connsiteY0" fmla="*/ 0 h 2859801"/>
                <a:gd name="connsiteX1" fmla="*/ 320477 w 1667114"/>
                <a:gd name="connsiteY1" fmla="*/ 0 h 2859801"/>
                <a:gd name="connsiteX2" fmla="*/ 833557 w 1667114"/>
                <a:gd name="connsiteY2" fmla="*/ 513080 h 2859801"/>
                <a:gd name="connsiteX3" fmla="*/ 1346637 w 1667114"/>
                <a:gd name="connsiteY3" fmla="*/ 0 h 2859801"/>
                <a:gd name="connsiteX4" fmla="*/ 1526410 w 1667114"/>
                <a:gd name="connsiteY4" fmla="*/ 0 h 2859801"/>
                <a:gd name="connsiteX5" fmla="*/ 1667114 w 1667114"/>
                <a:gd name="connsiteY5" fmla="*/ 140705 h 2859801"/>
                <a:gd name="connsiteX6" fmla="*/ 1667114 w 1667114"/>
                <a:gd name="connsiteY6" fmla="*/ 643387 h 2859801"/>
                <a:gd name="connsiteX7" fmla="*/ 1667114 w 1667114"/>
                <a:gd name="connsiteY7" fmla="*/ 2216415 h 2859801"/>
                <a:gd name="connsiteX8" fmla="*/ 1667114 w 1667114"/>
                <a:gd name="connsiteY8" fmla="*/ 2719097 h 2859801"/>
                <a:gd name="connsiteX9" fmla="*/ 1526410 w 1667114"/>
                <a:gd name="connsiteY9" fmla="*/ 2859801 h 2859801"/>
                <a:gd name="connsiteX10" fmla="*/ 140705 w 1667114"/>
                <a:gd name="connsiteY10" fmla="*/ 2859801 h 2859801"/>
                <a:gd name="connsiteX11" fmla="*/ 0 w 1667114"/>
                <a:gd name="connsiteY11" fmla="*/ 2719097 h 2859801"/>
                <a:gd name="connsiteX12" fmla="*/ 0 w 1667114"/>
                <a:gd name="connsiteY12" fmla="*/ 2216415 h 2859801"/>
                <a:gd name="connsiteX13" fmla="*/ 0 w 1667114"/>
                <a:gd name="connsiteY13" fmla="*/ 643387 h 2859801"/>
                <a:gd name="connsiteX14" fmla="*/ 0 w 1667114"/>
                <a:gd name="connsiteY14" fmla="*/ 140705 h 2859801"/>
                <a:gd name="connsiteX15" fmla="*/ 140705 w 1667114"/>
                <a:gd name="connsiteY15" fmla="*/ 0 h 2859801"/>
                <a:gd name="connsiteX0" fmla="*/ 140705 w 1667114"/>
                <a:gd name="connsiteY0" fmla="*/ 0 h 2859801"/>
                <a:gd name="connsiteX1" fmla="*/ 320477 w 1667114"/>
                <a:gd name="connsiteY1" fmla="*/ 0 h 2859801"/>
                <a:gd name="connsiteX2" fmla="*/ 833557 w 1667114"/>
                <a:gd name="connsiteY2" fmla="*/ 513080 h 2859801"/>
                <a:gd name="connsiteX3" fmla="*/ 1346637 w 1667114"/>
                <a:gd name="connsiteY3" fmla="*/ 0 h 2859801"/>
                <a:gd name="connsiteX4" fmla="*/ 1526410 w 1667114"/>
                <a:gd name="connsiteY4" fmla="*/ 0 h 2859801"/>
                <a:gd name="connsiteX5" fmla="*/ 1667114 w 1667114"/>
                <a:gd name="connsiteY5" fmla="*/ 140705 h 2859801"/>
                <a:gd name="connsiteX6" fmla="*/ 1667114 w 1667114"/>
                <a:gd name="connsiteY6" fmla="*/ 643387 h 2859801"/>
                <a:gd name="connsiteX7" fmla="*/ 1667114 w 1667114"/>
                <a:gd name="connsiteY7" fmla="*/ 2216415 h 2859801"/>
                <a:gd name="connsiteX8" fmla="*/ 1667114 w 1667114"/>
                <a:gd name="connsiteY8" fmla="*/ 2719097 h 2859801"/>
                <a:gd name="connsiteX9" fmla="*/ 1526410 w 1667114"/>
                <a:gd name="connsiteY9" fmla="*/ 2859801 h 2859801"/>
                <a:gd name="connsiteX10" fmla="*/ 140705 w 1667114"/>
                <a:gd name="connsiteY10" fmla="*/ 2859801 h 2859801"/>
                <a:gd name="connsiteX11" fmla="*/ 0 w 1667114"/>
                <a:gd name="connsiteY11" fmla="*/ 2719097 h 2859801"/>
                <a:gd name="connsiteX12" fmla="*/ 0 w 1667114"/>
                <a:gd name="connsiteY12" fmla="*/ 643387 h 2859801"/>
                <a:gd name="connsiteX13" fmla="*/ 0 w 1667114"/>
                <a:gd name="connsiteY13" fmla="*/ 140705 h 2859801"/>
                <a:gd name="connsiteX14" fmla="*/ 140705 w 1667114"/>
                <a:gd name="connsiteY14" fmla="*/ 0 h 2859801"/>
                <a:gd name="connsiteX0" fmla="*/ 140705 w 1667114"/>
                <a:gd name="connsiteY0" fmla="*/ 0 h 2859801"/>
                <a:gd name="connsiteX1" fmla="*/ 320477 w 1667114"/>
                <a:gd name="connsiteY1" fmla="*/ 0 h 2859801"/>
                <a:gd name="connsiteX2" fmla="*/ 833557 w 1667114"/>
                <a:gd name="connsiteY2" fmla="*/ 513080 h 2859801"/>
                <a:gd name="connsiteX3" fmla="*/ 1346637 w 1667114"/>
                <a:gd name="connsiteY3" fmla="*/ 0 h 2859801"/>
                <a:gd name="connsiteX4" fmla="*/ 1526410 w 1667114"/>
                <a:gd name="connsiteY4" fmla="*/ 0 h 2859801"/>
                <a:gd name="connsiteX5" fmla="*/ 1667114 w 1667114"/>
                <a:gd name="connsiteY5" fmla="*/ 140705 h 2859801"/>
                <a:gd name="connsiteX6" fmla="*/ 1667114 w 1667114"/>
                <a:gd name="connsiteY6" fmla="*/ 643387 h 2859801"/>
                <a:gd name="connsiteX7" fmla="*/ 1667114 w 1667114"/>
                <a:gd name="connsiteY7" fmla="*/ 2216415 h 2859801"/>
                <a:gd name="connsiteX8" fmla="*/ 1667114 w 1667114"/>
                <a:gd name="connsiteY8" fmla="*/ 2719097 h 2859801"/>
                <a:gd name="connsiteX9" fmla="*/ 1526410 w 1667114"/>
                <a:gd name="connsiteY9" fmla="*/ 2859801 h 2859801"/>
                <a:gd name="connsiteX10" fmla="*/ 140705 w 1667114"/>
                <a:gd name="connsiteY10" fmla="*/ 2859801 h 2859801"/>
                <a:gd name="connsiteX11" fmla="*/ 0 w 1667114"/>
                <a:gd name="connsiteY11" fmla="*/ 2719097 h 2859801"/>
                <a:gd name="connsiteX12" fmla="*/ 0 w 1667114"/>
                <a:gd name="connsiteY12" fmla="*/ 140705 h 2859801"/>
                <a:gd name="connsiteX13" fmla="*/ 140705 w 1667114"/>
                <a:gd name="connsiteY13" fmla="*/ 0 h 2859801"/>
                <a:gd name="connsiteX0" fmla="*/ 140705 w 1667114"/>
                <a:gd name="connsiteY0" fmla="*/ 0 h 2859801"/>
                <a:gd name="connsiteX1" fmla="*/ 320477 w 1667114"/>
                <a:gd name="connsiteY1" fmla="*/ 0 h 2859801"/>
                <a:gd name="connsiteX2" fmla="*/ 833557 w 1667114"/>
                <a:gd name="connsiteY2" fmla="*/ 513080 h 2859801"/>
                <a:gd name="connsiteX3" fmla="*/ 1346637 w 1667114"/>
                <a:gd name="connsiteY3" fmla="*/ 0 h 2859801"/>
                <a:gd name="connsiteX4" fmla="*/ 1526410 w 1667114"/>
                <a:gd name="connsiteY4" fmla="*/ 0 h 2859801"/>
                <a:gd name="connsiteX5" fmla="*/ 1667114 w 1667114"/>
                <a:gd name="connsiteY5" fmla="*/ 140705 h 2859801"/>
                <a:gd name="connsiteX6" fmla="*/ 1667114 w 1667114"/>
                <a:gd name="connsiteY6" fmla="*/ 2216415 h 2859801"/>
                <a:gd name="connsiteX7" fmla="*/ 1667114 w 1667114"/>
                <a:gd name="connsiteY7" fmla="*/ 2719097 h 2859801"/>
                <a:gd name="connsiteX8" fmla="*/ 1526410 w 1667114"/>
                <a:gd name="connsiteY8" fmla="*/ 2859801 h 2859801"/>
                <a:gd name="connsiteX9" fmla="*/ 140705 w 1667114"/>
                <a:gd name="connsiteY9" fmla="*/ 2859801 h 2859801"/>
                <a:gd name="connsiteX10" fmla="*/ 0 w 1667114"/>
                <a:gd name="connsiteY10" fmla="*/ 2719097 h 2859801"/>
                <a:gd name="connsiteX11" fmla="*/ 0 w 1667114"/>
                <a:gd name="connsiteY11" fmla="*/ 140705 h 2859801"/>
                <a:gd name="connsiteX12" fmla="*/ 140705 w 1667114"/>
                <a:gd name="connsiteY12" fmla="*/ 0 h 2859801"/>
                <a:gd name="connsiteX0" fmla="*/ 140705 w 1667114"/>
                <a:gd name="connsiteY0" fmla="*/ 0 h 2859801"/>
                <a:gd name="connsiteX1" fmla="*/ 320477 w 1667114"/>
                <a:gd name="connsiteY1" fmla="*/ 0 h 2859801"/>
                <a:gd name="connsiteX2" fmla="*/ 833557 w 1667114"/>
                <a:gd name="connsiteY2" fmla="*/ 513080 h 2859801"/>
                <a:gd name="connsiteX3" fmla="*/ 1346637 w 1667114"/>
                <a:gd name="connsiteY3" fmla="*/ 0 h 2859801"/>
                <a:gd name="connsiteX4" fmla="*/ 1526410 w 1667114"/>
                <a:gd name="connsiteY4" fmla="*/ 0 h 2859801"/>
                <a:gd name="connsiteX5" fmla="*/ 1667114 w 1667114"/>
                <a:gd name="connsiteY5" fmla="*/ 140705 h 2859801"/>
                <a:gd name="connsiteX6" fmla="*/ 1667114 w 1667114"/>
                <a:gd name="connsiteY6" fmla="*/ 2719097 h 2859801"/>
                <a:gd name="connsiteX7" fmla="*/ 1526410 w 1667114"/>
                <a:gd name="connsiteY7" fmla="*/ 2859801 h 2859801"/>
                <a:gd name="connsiteX8" fmla="*/ 140705 w 1667114"/>
                <a:gd name="connsiteY8" fmla="*/ 2859801 h 2859801"/>
                <a:gd name="connsiteX9" fmla="*/ 0 w 1667114"/>
                <a:gd name="connsiteY9" fmla="*/ 2719097 h 2859801"/>
                <a:gd name="connsiteX10" fmla="*/ 0 w 1667114"/>
                <a:gd name="connsiteY10" fmla="*/ 140705 h 2859801"/>
                <a:gd name="connsiteX11" fmla="*/ 140705 w 1667114"/>
                <a:gd name="connsiteY11" fmla="*/ 0 h 2859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67114" h="2859801">
                  <a:moveTo>
                    <a:pt x="140705" y="0"/>
                  </a:moveTo>
                  <a:lnTo>
                    <a:pt x="320477" y="0"/>
                  </a:lnTo>
                  <a:cubicBezTo>
                    <a:pt x="320477" y="283367"/>
                    <a:pt x="550191" y="513080"/>
                    <a:pt x="833557" y="513080"/>
                  </a:cubicBezTo>
                  <a:cubicBezTo>
                    <a:pt x="1116924" y="513080"/>
                    <a:pt x="1346637" y="283367"/>
                    <a:pt x="1346637" y="0"/>
                  </a:cubicBezTo>
                  <a:lnTo>
                    <a:pt x="1526410" y="0"/>
                  </a:lnTo>
                  <a:cubicBezTo>
                    <a:pt x="1604119" y="0"/>
                    <a:pt x="1667114" y="62996"/>
                    <a:pt x="1667114" y="140705"/>
                  </a:cubicBezTo>
                  <a:lnTo>
                    <a:pt x="1667114" y="2719097"/>
                  </a:lnTo>
                  <a:cubicBezTo>
                    <a:pt x="1667114" y="2796806"/>
                    <a:pt x="1604119" y="2859801"/>
                    <a:pt x="1526410" y="2859801"/>
                  </a:cubicBezTo>
                  <a:lnTo>
                    <a:pt x="140705" y="2859801"/>
                  </a:lnTo>
                  <a:cubicBezTo>
                    <a:pt x="62996" y="2859801"/>
                    <a:pt x="0" y="2796806"/>
                    <a:pt x="0" y="2719097"/>
                  </a:cubicBezTo>
                  <a:lnTo>
                    <a:pt x="0" y="140705"/>
                  </a:lnTo>
                  <a:cubicBezTo>
                    <a:pt x="0" y="62996"/>
                    <a:pt x="62996" y="0"/>
                    <a:pt x="140705" y="0"/>
                  </a:cubicBezTo>
                  <a:close/>
                </a:path>
              </a:pathLst>
            </a:custGeom>
            <a:solidFill>
              <a:schemeClr val="bg1"/>
            </a:solidFill>
            <a:ln>
              <a:solidFill>
                <a:schemeClr val="accent6">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a:latin typeface="Times New Roman" panose="02020603050405020304" pitchFamily="18" charset="0"/>
                <a:cs typeface="Times New Roman" panose="02020603050405020304" pitchFamily="18" charset="0"/>
              </a:endParaRPr>
            </a:p>
          </p:txBody>
        </p:sp>
        <p:pic>
          <p:nvPicPr>
            <p:cNvPr id="4" name="Graphic 3" descr="Lights On with solid fill">
              <a:extLst>
                <a:ext uri="{FF2B5EF4-FFF2-40B4-BE49-F238E27FC236}">
                  <a16:creationId xmlns:a16="http://schemas.microsoft.com/office/drawing/2014/main" id="{E3780A65-104D-BE4E-DF3D-3FBF6C32408E}"/>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13765" y="1981201"/>
              <a:ext cx="685800" cy="685800"/>
            </a:xfrm>
            <a:prstGeom prst="rect">
              <a:avLst/>
            </a:prstGeom>
          </p:spPr>
        </p:pic>
        <p:sp>
          <p:nvSpPr>
            <p:cNvPr id="5" name="TextBox 71">
              <a:extLst>
                <a:ext uri="{FF2B5EF4-FFF2-40B4-BE49-F238E27FC236}">
                  <a16:creationId xmlns:a16="http://schemas.microsoft.com/office/drawing/2014/main" id="{6C55B2B4-60B8-D31B-D89A-AC0222CCF555}"/>
                </a:ext>
              </a:extLst>
            </p:cNvPr>
            <p:cNvSpPr txBox="1"/>
            <p:nvPr/>
          </p:nvSpPr>
          <p:spPr>
            <a:xfrm>
              <a:off x="760552" y="3034060"/>
              <a:ext cx="1392226" cy="1771683"/>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IT, Pharma, and Construction/Real estate companies, primarily in the Hedge category, are low-risk sectors, making them suitable for new investors.</a:t>
              </a:r>
            </a:p>
          </p:txBody>
        </p:sp>
      </p:grpSp>
      <p:grpSp>
        <p:nvGrpSpPr>
          <p:cNvPr id="6" name="Group 5">
            <a:extLst>
              <a:ext uri="{FF2B5EF4-FFF2-40B4-BE49-F238E27FC236}">
                <a16:creationId xmlns:a16="http://schemas.microsoft.com/office/drawing/2014/main" id="{D04793DA-CBD9-F5D6-54C4-3C113E269FEE}"/>
              </a:ext>
            </a:extLst>
          </p:cNvPr>
          <p:cNvGrpSpPr/>
          <p:nvPr/>
        </p:nvGrpSpPr>
        <p:grpSpPr>
          <a:xfrm>
            <a:off x="3257835" y="1262399"/>
            <a:ext cx="2625357" cy="4617895"/>
            <a:chOff x="2698149" y="1981201"/>
            <a:chExt cx="1667114" cy="3202701"/>
          </a:xfrm>
        </p:grpSpPr>
        <p:sp>
          <p:nvSpPr>
            <p:cNvPr id="7" name="Freeform: Shape 6">
              <a:extLst>
                <a:ext uri="{FF2B5EF4-FFF2-40B4-BE49-F238E27FC236}">
                  <a16:creationId xmlns:a16="http://schemas.microsoft.com/office/drawing/2014/main" id="{6231DADD-DD7B-FD64-59E4-0C63922897B7}"/>
                </a:ext>
              </a:extLst>
            </p:cNvPr>
            <p:cNvSpPr/>
            <p:nvPr/>
          </p:nvSpPr>
          <p:spPr>
            <a:xfrm>
              <a:off x="2698149" y="2324101"/>
              <a:ext cx="1667114" cy="2859801"/>
            </a:xfrm>
            <a:custGeom>
              <a:avLst/>
              <a:gdLst>
                <a:gd name="connsiteX0" fmla="*/ 140705 w 1667114"/>
                <a:gd name="connsiteY0" fmla="*/ 0 h 2859801"/>
                <a:gd name="connsiteX1" fmla="*/ 320477 w 1667114"/>
                <a:gd name="connsiteY1" fmla="*/ 0 h 2859801"/>
                <a:gd name="connsiteX2" fmla="*/ 833557 w 1667114"/>
                <a:gd name="connsiteY2" fmla="*/ 513080 h 2859801"/>
                <a:gd name="connsiteX3" fmla="*/ 1346637 w 1667114"/>
                <a:gd name="connsiteY3" fmla="*/ 0 h 2859801"/>
                <a:gd name="connsiteX4" fmla="*/ 1526410 w 1667114"/>
                <a:gd name="connsiteY4" fmla="*/ 0 h 2859801"/>
                <a:gd name="connsiteX5" fmla="*/ 1667114 w 1667114"/>
                <a:gd name="connsiteY5" fmla="*/ 140705 h 2859801"/>
                <a:gd name="connsiteX6" fmla="*/ 1667114 w 1667114"/>
                <a:gd name="connsiteY6" fmla="*/ 643387 h 2859801"/>
                <a:gd name="connsiteX7" fmla="*/ 1667114 w 1667114"/>
                <a:gd name="connsiteY7" fmla="*/ 2216415 h 2859801"/>
                <a:gd name="connsiteX8" fmla="*/ 1667114 w 1667114"/>
                <a:gd name="connsiteY8" fmla="*/ 2719097 h 2859801"/>
                <a:gd name="connsiteX9" fmla="*/ 1526410 w 1667114"/>
                <a:gd name="connsiteY9" fmla="*/ 2859801 h 2859801"/>
                <a:gd name="connsiteX10" fmla="*/ 140705 w 1667114"/>
                <a:gd name="connsiteY10" fmla="*/ 2859801 h 2859801"/>
                <a:gd name="connsiteX11" fmla="*/ 0 w 1667114"/>
                <a:gd name="connsiteY11" fmla="*/ 2719097 h 2859801"/>
                <a:gd name="connsiteX12" fmla="*/ 0 w 1667114"/>
                <a:gd name="connsiteY12" fmla="*/ 2216415 h 2859801"/>
                <a:gd name="connsiteX13" fmla="*/ 0 w 1667114"/>
                <a:gd name="connsiteY13" fmla="*/ 643387 h 2859801"/>
                <a:gd name="connsiteX14" fmla="*/ 0 w 1667114"/>
                <a:gd name="connsiteY14" fmla="*/ 140705 h 2859801"/>
                <a:gd name="connsiteX15" fmla="*/ 140705 w 1667114"/>
                <a:gd name="connsiteY15" fmla="*/ 0 h 2859801"/>
                <a:gd name="connsiteX0" fmla="*/ 140705 w 1667114"/>
                <a:gd name="connsiteY0" fmla="*/ 0 h 2859801"/>
                <a:gd name="connsiteX1" fmla="*/ 320477 w 1667114"/>
                <a:gd name="connsiteY1" fmla="*/ 0 h 2859801"/>
                <a:gd name="connsiteX2" fmla="*/ 833557 w 1667114"/>
                <a:gd name="connsiteY2" fmla="*/ 513080 h 2859801"/>
                <a:gd name="connsiteX3" fmla="*/ 1346637 w 1667114"/>
                <a:gd name="connsiteY3" fmla="*/ 0 h 2859801"/>
                <a:gd name="connsiteX4" fmla="*/ 1526410 w 1667114"/>
                <a:gd name="connsiteY4" fmla="*/ 0 h 2859801"/>
                <a:gd name="connsiteX5" fmla="*/ 1667114 w 1667114"/>
                <a:gd name="connsiteY5" fmla="*/ 140705 h 2859801"/>
                <a:gd name="connsiteX6" fmla="*/ 1667114 w 1667114"/>
                <a:gd name="connsiteY6" fmla="*/ 643387 h 2859801"/>
                <a:gd name="connsiteX7" fmla="*/ 1667114 w 1667114"/>
                <a:gd name="connsiteY7" fmla="*/ 2216415 h 2859801"/>
                <a:gd name="connsiteX8" fmla="*/ 1667114 w 1667114"/>
                <a:gd name="connsiteY8" fmla="*/ 2719097 h 2859801"/>
                <a:gd name="connsiteX9" fmla="*/ 1526410 w 1667114"/>
                <a:gd name="connsiteY9" fmla="*/ 2859801 h 2859801"/>
                <a:gd name="connsiteX10" fmla="*/ 140705 w 1667114"/>
                <a:gd name="connsiteY10" fmla="*/ 2859801 h 2859801"/>
                <a:gd name="connsiteX11" fmla="*/ 0 w 1667114"/>
                <a:gd name="connsiteY11" fmla="*/ 2719097 h 2859801"/>
                <a:gd name="connsiteX12" fmla="*/ 0 w 1667114"/>
                <a:gd name="connsiteY12" fmla="*/ 643387 h 2859801"/>
                <a:gd name="connsiteX13" fmla="*/ 0 w 1667114"/>
                <a:gd name="connsiteY13" fmla="*/ 140705 h 2859801"/>
                <a:gd name="connsiteX14" fmla="*/ 140705 w 1667114"/>
                <a:gd name="connsiteY14" fmla="*/ 0 h 2859801"/>
                <a:gd name="connsiteX0" fmla="*/ 140705 w 1667114"/>
                <a:gd name="connsiteY0" fmla="*/ 0 h 2859801"/>
                <a:gd name="connsiteX1" fmla="*/ 320477 w 1667114"/>
                <a:gd name="connsiteY1" fmla="*/ 0 h 2859801"/>
                <a:gd name="connsiteX2" fmla="*/ 833557 w 1667114"/>
                <a:gd name="connsiteY2" fmla="*/ 513080 h 2859801"/>
                <a:gd name="connsiteX3" fmla="*/ 1346637 w 1667114"/>
                <a:gd name="connsiteY3" fmla="*/ 0 h 2859801"/>
                <a:gd name="connsiteX4" fmla="*/ 1526410 w 1667114"/>
                <a:gd name="connsiteY4" fmla="*/ 0 h 2859801"/>
                <a:gd name="connsiteX5" fmla="*/ 1667114 w 1667114"/>
                <a:gd name="connsiteY5" fmla="*/ 140705 h 2859801"/>
                <a:gd name="connsiteX6" fmla="*/ 1667114 w 1667114"/>
                <a:gd name="connsiteY6" fmla="*/ 643387 h 2859801"/>
                <a:gd name="connsiteX7" fmla="*/ 1667114 w 1667114"/>
                <a:gd name="connsiteY7" fmla="*/ 2216415 h 2859801"/>
                <a:gd name="connsiteX8" fmla="*/ 1667114 w 1667114"/>
                <a:gd name="connsiteY8" fmla="*/ 2719097 h 2859801"/>
                <a:gd name="connsiteX9" fmla="*/ 1526410 w 1667114"/>
                <a:gd name="connsiteY9" fmla="*/ 2859801 h 2859801"/>
                <a:gd name="connsiteX10" fmla="*/ 140705 w 1667114"/>
                <a:gd name="connsiteY10" fmla="*/ 2859801 h 2859801"/>
                <a:gd name="connsiteX11" fmla="*/ 0 w 1667114"/>
                <a:gd name="connsiteY11" fmla="*/ 2719097 h 2859801"/>
                <a:gd name="connsiteX12" fmla="*/ 0 w 1667114"/>
                <a:gd name="connsiteY12" fmla="*/ 140705 h 2859801"/>
                <a:gd name="connsiteX13" fmla="*/ 140705 w 1667114"/>
                <a:gd name="connsiteY13" fmla="*/ 0 h 2859801"/>
                <a:gd name="connsiteX0" fmla="*/ 140705 w 1667114"/>
                <a:gd name="connsiteY0" fmla="*/ 0 h 2859801"/>
                <a:gd name="connsiteX1" fmla="*/ 320477 w 1667114"/>
                <a:gd name="connsiteY1" fmla="*/ 0 h 2859801"/>
                <a:gd name="connsiteX2" fmla="*/ 833557 w 1667114"/>
                <a:gd name="connsiteY2" fmla="*/ 513080 h 2859801"/>
                <a:gd name="connsiteX3" fmla="*/ 1346637 w 1667114"/>
                <a:gd name="connsiteY3" fmla="*/ 0 h 2859801"/>
                <a:gd name="connsiteX4" fmla="*/ 1526410 w 1667114"/>
                <a:gd name="connsiteY4" fmla="*/ 0 h 2859801"/>
                <a:gd name="connsiteX5" fmla="*/ 1667114 w 1667114"/>
                <a:gd name="connsiteY5" fmla="*/ 140705 h 2859801"/>
                <a:gd name="connsiteX6" fmla="*/ 1667114 w 1667114"/>
                <a:gd name="connsiteY6" fmla="*/ 2216415 h 2859801"/>
                <a:gd name="connsiteX7" fmla="*/ 1667114 w 1667114"/>
                <a:gd name="connsiteY7" fmla="*/ 2719097 h 2859801"/>
                <a:gd name="connsiteX8" fmla="*/ 1526410 w 1667114"/>
                <a:gd name="connsiteY8" fmla="*/ 2859801 h 2859801"/>
                <a:gd name="connsiteX9" fmla="*/ 140705 w 1667114"/>
                <a:gd name="connsiteY9" fmla="*/ 2859801 h 2859801"/>
                <a:gd name="connsiteX10" fmla="*/ 0 w 1667114"/>
                <a:gd name="connsiteY10" fmla="*/ 2719097 h 2859801"/>
                <a:gd name="connsiteX11" fmla="*/ 0 w 1667114"/>
                <a:gd name="connsiteY11" fmla="*/ 140705 h 2859801"/>
                <a:gd name="connsiteX12" fmla="*/ 140705 w 1667114"/>
                <a:gd name="connsiteY12" fmla="*/ 0 h 2859801"/>
                <a:gd name="connsiteX0" fmla="*/ 140705 w 1667114"/>
                <a:gd name="connsiteY0" fmla="*/ 0 h 2859801"/>
                <a:gd name="connsiteX1" fmla="*/ 320477 w 1667114"/>
                <a:gd name="connsiteY1" fmla="*/ 0 h 2859801"/>
                <a:gd name="connsiteX2" fmla="*/ 833557 w 1667114"/>
                <a:gd name="connsiteY2" fmla="*/ 513080 h 2859801"/>
                <a:gd name="connsiteX3" fmla="*/ 1346637 w 1667114"/>
                <a:gd name="connsiteY3" fmla="*/ 0 h 2859801"/>
                <a:gd name="connsiteX4" fmla="*/ 1526410 w 1667114"/>
                <a:gd name="connsiteY4" fmla="*/ 0 h 2859801"/>
                <a:gd name="connsiteX5" fmla="*/ 1667114 w 1667114"/>
                <a:gd name="connsiteY5" fmla="*/ 140705 h 2859801"/>
                <a:gd name="connsiteX6" fmla="*/ 1667114 w 1667114"/>
                <a:gd name="connsiteY6" fmla="*/ 2719097 h 2859801"/>
                <a:gd name="connsiteX7" fmla="*/ 1526410 w 1667114"/>
                <a:gd name="connsiteY7" fmla="*/ 2859801 h 2859801"/>
                <a:gd name="connsiteX8" fmla="*/ 140705 w 1667114"/>
                <a:gd name="connsiteY8" fmla="*/ 2859801 h 2859801"/>
                <a:gd name="connsiteX9" fmla="*/ 0 w 1667114"/>
                <a:gd name="connsiteY9" fmla="*/ 2719097 h 2859801"/>
                <a:gd name="connsiteX10" fmla="*/ 0 w 1667114"/>
                <a:gd name="connsiteY10" fmla="*/ 140705 h 2859801"/>
                <a:gd name="connsiteX11" fmla="*/ 140705 w 1667114"/>
                <a:gd name="connsiteY11" fmla="*/ 0 h 2859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67114" h="2859801">
                  <a:moveTo>
                    <a:pt x="140705" y="0"/>
                  </a:moveTo>
                  <a:lnTo>
                    <a:pt x="320477" y="0"/>
                  </a:lnTo>
                  <a:cubicBezTo>
                    <a:pt x="320477" y="283367"/>
                    <a:pt x="550191" y="513080"/>
                    <a:pt x="833557" y="513080"/>
                  </a:cubicBezTo>
                  <a:cubicBezTo>
                    <a:pt x="1116924" y="513080"/>
                    <a:pt x="1346637" y="283367"/>
                    <a:pt x="1346637" y="0"/>
                  </a:cubicBezTo>
                  <a:lnTo>
                    <a:pt x="1526410" y="0"/>
                  </a:lnTo>
                  <a:cubicBezTo>
                    <a:pt x="1604119" y="0"/>
                    <a:pt x="1667114" y="62996"/>
                    <a:pt x="1667114" y="140705"/>
                  </a:cubicBezTo>
                  <a:lnTo>
                    <a:pt x="1667114" y="2719097"/>
                  </a:lnTo>
                  <a:cubicBezTo>
                    <a:pt x="1667114" y="2796806"/>
                    <a:pt x="1604119" y="2859801"/>
                    <a:pt x="1526410" y="2859801"/>
                  </a:cubicBezTo>
                  <a:lnTo>
                    <a:pt x="140705" y="2859801"/>
                  </a:lnTo>
                  <a:cubicBezTo>
                    <a:pt x="62996" y="2859801"/>
                    <a:pt x="0" y="2796806"/>
                    <a:pt x="0" y="2719097"/>
                  </a:cubicBezTo>
                  <a:lnTo>
                    <a:pt x="0" y="140705"/>
                  </a:lnTo>
                  <a:cubicBezTo>
                    <a:pt x="0" y="62996"/>
                    <a:pt x="62996" y="0"/>
                    <a:pt x="140705" y="0"/>
                  </a:cubicBezTo>
                  <a:close/>
                </a:path>
              </a:pathLst>
            </a:cu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latin typeface="Times New Roman" panose="02020603050405020304" pitchFamily="18" charset="0"/>
                <a:cs typeface="Times New Roman" panose="02020603050405020304" pitchFamily="18" charset="0"/>
              </a:endParaRPr>
            </a:p>
          </p:txBody>
        </p:sp>
        <p:pic>
          <p:nvPicPr>
            <p:cNvPr id="8" name="Graphic 7" descr="Diamond with solid fill">
              <a:extLst>
                <a:ext uri="{FF2B5EF4-FFF2-40B4-BE49-F238E27FC236}">
                  <a16:creationId xmlns:a16="http://schemas.microsoft.com/office/drawing/2014/main" id="{6232BEDB-4696-E157-BFBB-D97414CACD54}"/>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3188806" y="1981201"/>
              <a:ext cx="685800" cy="685800"/>
            </a:xfrm>
            <a:prstGeom prst="rect">
              <a:avLst/>
            </a:prstGeom>
          </p:spPr>
        </p:pic>
        <p:sp>
          <p:nvSpPr>
            <p:cNvPr id="9" name="TextBox 71">
              <a:extLst>
                <a:ext uri="{FF2B5EF4-FFF2-40B4-BE49-F238E27FC236}">
                  <a16:creationId xmlns:a16="http://schemas.microsoft.com/office/drawing/2014/main" id="{447E9C58-6827-2BE6-1EDB-50B7F83F3521}"/>
                </a:ext>
              </a:extLst>
            </p:cNvPr>
            <p:cNvSpPr txBox="1"/>
            <p:nvPr/>
          </p:nvSpPr>
          <p:spPr>
            <a:xfrm>
              <a:off x="2835593" y="2926337"/>
              <a:ext cx="1392226" cy="2198595"/>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There's a 12% chance of ending up in high-risk investments, even when choosing companies in typically “safe” sectors, implying potential financial loss.</a:t>
              </a:r>
            </a:p>
          </p:txBody>
        </p:sp>
      </p:grpSp>
      <p:grpSp>
        <p:nvGrpSpPr>
          <p:cNvPr id="10" name="Group 9">
            <a:extLst>
              <a:ext uri="{FF2B5EF4-FFF2-40B4-BE49-F238E27FC236}">
                <a16:creationId xmlns:a16="http://schemas.microsoft.com/office/drawing/2014/main" id="{5CE9BFFB-E879-A940-42F7-2CAD0142C714}"/>
              </a:ext>
            </a:extLst>
          </p:cNvPr>
          <p:cNvGrpSpPr/>
          <p:nvPr/>
        </p:nvGrpSpPr>
        <p:grpSpPr>
          <a:xfrm>
            <a:off x="6164980" y="1121721"/>
            <a:ext cx="2625355" cy="4758573"/>
            <a:chOff x="4773190" y="1981201"/>
            <a:chExt cx="1667114" cy="3202701"/>
          </a:xfrm>
        </p:grpSpPr>
        <p:sp>
          <p:nvSpPr>
            <p:cNvPr id="11" name="Freeform: Shape 10">
              <a:extLst>
                <a:ext uri="{FF2B5EF4-FFF2-40B4-BE49-F238E27FC236}">
                  <a16:creationId xmlns:a16="http://schemas.microsoft.com/office/drawing/2014/main" id="{4A84D4FE-13F4-AAC9-3FBE-E33A16566E54}"/>
                </a:ext>
              </a:extLst>
            </p:cNvPr>
            <p:cNvSpPr/>
            <p:nvPr/>
          </p:nvSpPr>
          <p:spPr>
            <a:xfrm>
              <a:off x="4773190" y="2324101"/>
              <a:ext cx="1667114" cy="2859801"/>
            </a:xfrm>
            <a:custGeom>
              <a:avLst/>
              <a:gdLst>
                <a:gd name="connsiteX0" fmla="*/ 140705 w 1667114"/>
                <a:gd name="connsiteY0" fmla="*/ 0 h 2859801"/>
                <a:gd name="connsiteX1" fmla="*/ 320477 w 1667114"/>
                <a:gd name="connsiteY1" fmla="*/ 0 h 2859801"/>
                <a:gd name="connsiteX2" fmla="*/ 833557 w 1667114"/>
                <a:gd name="connsiteY2" fmla="*/ 513080 h 2859801"/>
                <a:gd name="connsiteX3" fmla="*/ 1346637 w 1667114"/>
                <a:gd name="connsiteY3" fmla="*/ 0 h 2859801"/>
                <a:gd name="connsiteX4" fmla="*/ 1526410 w 1667114"/>
                <a:gd name="connsiteY4" fmla="*/ 0 h 2859801"/>
                <a:gd name="connsiteX5" fmla="*/ 1667114 w 1667114"/>
                <a:gd name="connsiteY5" fmla="*/ 140705 h 2859801"/>
                <a:gd name="connsiteX6" fmla="*/ 1667114 w 1667114"/>
                <a:gd name="connsiteY6" fmla="*/ 643387 h 2859801"/>
                <a:gd name="connsiteX7" fmla="*/ 1667114 w 1667114"/>
                <a:gd name="connsiteY7" fmla="*/ 2216415 h 2859801"/>
                <a:gd name="connsiteX8" fmla="*/ 1667114 w 1667114"/>
                <a:gd name="connsiteY8" fmla="*/ 2719097 h 2859801"/>
                <a:gd name="connsiteX9" fmla="*/ 1526410 w 1667114"/>
                <a:gd name="connsiteY9" fmla="*/ 2859801 h 2859801"/>
                <a:gd name="connsiteX10" fmla="*/ 140705 w 1667114"/>
                <a:gd name="connsiteY10" fmla="*/ 2859801 h 2859801"/>
                <a:gd name="connsiteX11" fmla="*/ 0 w 1667114"/>
                <a:gd name="connsiteY11" fmla="*/ 2719097 h 2859801"/>
                <a:gd name="connsiteX12" fmla="*/ 0 w 1667114"/>
                <a:gd name="connsiteY12" fmla="*/ 2216415 h 2859801"/>
                <a:gd name="connsiteX13" fmla="*/ 0 w 1667114"/>
                <a:gd name="connsiteY13" fmla="*/ 643387 h 2859801"/>
                <a:gd name="connsiteX14" fmla="*/ 0 w 1667114"/>
                <a:gd name="connsiteY14" fmla="*/ 140705 h 2859801"/>
                <a:gd name="connsiteX15" fmla="*/ 140705 w 1667114"/>
                <a:gd name="connsiteY15" fmla="*/ 0 h 2859801"/>
                <a:gd name="connsiteX0" fmla="*/ 140705 w 1667114"/>
                <a:gd name="connsiteY0" fmla="*/ 0 h 2859801"/>
                <a:gd name="connsiteX1" fmla="*/ 320477 w 1667114"/>
                <a:gd name="connsiteY1" fmla="*/ 0 h 2859801"/>
                <a:gd name="connsiteX2" fmla="*/ 833557 w 1667114"/>
                <a:gd name="connsiteY2" fmla="*/ 513080 h 2859801"/>
                <a:gd name="connsiteX3" fmla="*/ 1346637 w 1667114"/>
                <a:gd name="connsiteY3" fmla="*/ 0 h 2859801"/>
                <a:gd name="connsiteX4" fmla="*/ 1526410 w 1667114"/>
                <a:gd name="connsiteY4" fmla="*/ 0 h 2859801"/>
                <a:gd name="connsiteX5" fmla="*/ 1667114 w 1667114"/>
                <a:gd name="connsiteY5" fmla="*/ 140705 h 2859801"/>
                <a:gd name="connsiteX6" fmla="*/ 1667114 w 1667114"/>
                <a:gd name="connsiteY6" fmla="*/ 643387 h 2859801"/>
                <a:gd name="connsiteX7" fmla="*/ 1667114 w 1667114"/>
                <a:gd name="connsiteY7" fmla="*/ 2216415 h 2859801"/>
                <a:gd name="connsiteX8" fmla="*/ 1667114 w 1667114"/>
                <a:gd name="connsiteY8" fmla="*/ 2719097 h 2859801"/>
                <a:gd name="connsiteX9" fmla="*/ 1526410 w 1667114"/>
                <a:gd name="connsiteY9" fmla="*/ 2859801 h 2859801"/>
                <a:gd name="connsiteX10" fmla="*/ 140705 w 1667114"/>
                <a:gd name="connsiteY10" fmla="*/ 2859801 h 2859801"/>
                <a:gd name="connsiteX11" fmla="*/ 0 w 1667114"/>
                <a:gd name="connsiteY11" fmla="*/ 2719097 h 2859801"/>
                <a:gd name="connsiteX12" fmla="*/ 0 w 1667114"/>
                <a:gd name="connsiteY12" fmla="*/ 643387 h 2859801"/>
                <a:gd name="connsiteX13" fmla="*/ 0 w 1667114"/>
                <a:gd name="connsiteY13" fmla="*/ 140705 h 2859801"/>
                <a:gd name="connsiteX14" fmla="*/ 140705 w 1667114"/>
                <a:gd name="connsiteY14" fmla="*/ 0 h 2859801"/>
                <a:gd name="connsiteX0" fmla="*/ 140705 w 1667114"/>
                <a:gd name="connsiteY0" fmla="*/ 0 h 2859801"/>
                <a:gd name="connsiteX1" fmla="*/ 320477 w 1667114"/>
                <a:gd name="connsiteY1" fmla="*/ 0 h 2859801"/>
                <a:gd name="connsiteX2" fmla="*/ 833557 w 1667114"/>
                <a:gd name="connsiteY2" fmla="*/ 513080 h 2859801"/>
                <a:gd name="connsiteX3" fmla="*/ 1346637 w 1667114"/>
                <a:gd name="connsiteY3" fmla="*/ 0 h 2859801"/>
                <a:gd name="connsiteX4" fmla="*/ 1526410 w 1667114"/>
                <a:gd name="connsiteY4" fmla="*/ 0 h 2859801"/>
                <a:gd name="connsiteX5" fmla="*/ 1667114 w 1667114"/>
                <a:gd name="connsiteY5" fmla="*/ 140705 h 2859801"/>
                <a:gd name="connsiteX6" fmla="*/ 1667114 w 1667114"/>
                <a:gd name="connsiteY6" fmla="*/ 643387 h 2859801"/>
                <a:gd name="connsiteX7" fmla="*/ 1667114 w 1667114"/>
                <a:gd name="connsiteY7" fmla="*/ 2216415 h 2859801"/>
                <a:gd name="connsiteX8" fmla="*/ 1667114 w 1667114"/>
                <a:gd name="connsiteY8" fmla="*/ 2719097 h 2859801"/>
                <a:gd name="connsiteX9" fmla="*/ 1526410 w 1667114"/>
                <a:gd name="connsiteY9" fmla="*/ 2859801 h 2859801"/>
                <a:gd name="connsiteX10" fmla="*/ 140705 w 1667114"/>
                <a:gd name="connsiteY10" fmla="*/ 2859801 h 2859801"/>
                <a:gd name="connsiteX11" fmla="*/ 0 w 1667114"/>
                <a:gd name="connsiteY11" fmla="*/ 2719097 h 2859801"/>
                <a:gd name="connsiteX12" fmla="*/ 0 w 1667114"/>
                <a:gd name="connsiteY12" fmla="*/ 140705 h 2859801"/>
                <a:gd name="connsiteX13" fmla="*/ 140705 w 1667114"/>
                <a:gd name="connsiteY13" fmla="*/ 0 h 2859801"/>
                <a:gd name="connsiteX0" fmla="*/ 140705 w 1667114"/>
                <a:gd name="connsiteY0" fmla="*/ 0 h 2859801"/>
                <a:gd name="connsiteX1" fmla="*/ 320477 w 1667114"/>
                <a:gd name="connsiteY1" fmla="*/ 0 h 2859801"/>
                <a:gd name="connsiteX2" fmla="*/ 833557 w 1667114"/>
                <a:gd name="connsiteY2" fmla="*/ 513080 h 2859801"/>
                <a:gd name="connsiteX3" fmla="*/ 1346637 w 1667114"/>
                <a:gd name="connsiteY3" fmla="*/ 0 h 2859801"/>
                <a:gd name="connsiteX4" fmla="*/ 1526410 w 1667114"/>
                <a:gd name="connsiteY4" fmla="*/ 0 h 2859801"/>
                <a:gd name="connsiteX5" fmla="*/ 1667114 w 1667114"/>
                <a:gd name="connsiteY5" fmla="*/ 140705 h 2859801"/>
                <a:gd name="connsiteX6" fmla="*/ 1667114 w 1667114"/>
                <a:gd name="connsiteY6" fmla="*/ 2216415 h 2859801"/>
                <a:gd name="connsiteX7" fmla="*/ 1667114 w 1667114"/>
                <a:gd name="connsiteY7" fmla="*/ 2719097 h 2859801"/>
                <a:gd name="connsiteX8" fmla="*/ 1526410 w 1667114"/>
                <a:gd name="connsiteY8" fmla="*/ 2859801 h 2859801"/>
                <a:gd name="connsiteX9" fmla="*/ 140705 w 1667114"/>
                <a:gd name="connsiteY9" fmla="*/ 2859801 h 2859801"/>
                <a:gd name="connsiteX10" fmla="*/ 0 w 1667114"/>
                <a:gd name="connsiteY10" fmla="*/ 2719097 h 2859801"/>
                <a:gd name="connsiteX11" fmla="*/ 0 w 1667114"/>
                <a:gd name="connsiteY11" fmla="*/ 140705 h 2859801"/>
                <a:gd name="connsiteX12" fmla="*/ 140705 w 1667114"/>
                <a:gd name="connsiteY12" fmla="*/ 0 h 2859801"/>
                <a:gd name="connsiteX0" fmla="*/ 140705 w 1667114"/>
                <a:gd name="connsiteY0" fmla="*/ 0 h 2859801"/>
                <a:gd name="connsiteX1" fmla="*/ 320477 w 1667114"/>
                <a:gd name="connsiteY1" fmla="*/ 0 h 2859801"/>
                <a:gd name="connsiteX2" fmla="*/ 833557 w 1667114"/>
                <a:gd name="connsiteY2" fmla="*/ 513080 h 2859801"/>
                <a:gd name="connsiteX3" fmla="*/ 1346637 w 1667114"/>
                <a:gd name="connsiteY3" fmla="*/ 0 h 2859801"/>
                <a:gd name="connsiteX4" fmla="*/ 1526410 w 1667114"/>
                <a:gd name="connsiteY4" fmla="*/ 0 h 2859801"/>
                <a:gd name="connsiteX5" fmla="*/ 1667114 w 1667114"/>
                <a:gd name="connsiteY5" fmla="*/ 140705 h 2859801"/>
                <a:gd name="connsiteX6" fmla="*/ 1667114 w 1667114"/>
                <a:gd name="connsiteY6" fmla="*/ 2719097 h 2859801"/>
                <a:gd name="connsiteX7" fmla="*/ 1526410 w 1667114"/>
                <a:gd name="connsiteY7" fmla="*/ 2859801 h 2859801"/>
                <a:gd name="connsiteX8" fmla="*/ 140705 w 1667114"/>
                <a:gd name="connsiteY8" fmla="*/ 2859801 h 2859801"/>
                <a:gd name="connsiteX9" fmla="*/ 0 w 1667114"/>
                <a:gd name="connsiteY9" fmla="*/ 2719097 h 2859801"/>
                <a:gd name="connsiteX10" fmla="*/ 0 w 1667114"/>
                <a:gd name="connsiteY10" fmla="*/ 140705 h 2859801"/>
                <a:gd name="connsiteX11" fmla="*/ 140705 w 1667114"/>
                <a:gd name="connsiteY11" fmla="*/ 0 h 2859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67114" h="2859801">
                  <a:moveTo>
                    <a:pt x="140705" y="0"/>
                  </a:moveTo>
                  <a:lnTo>
                    <a:pt x="320477" y="0"/>
                  </a:lnTo>
                  <a:cubicBezTo>
                    <a:pt x="320477" y="283367"/>
                    <a:pt x="550191" y="513080"/>
                    <a:pt x="833557" y="513080"/>
                  </a:cubicBezTo>
                  <a:cubicBezTo>
                    <a:pt x="1116924" y="513080"/>
                    <a:pt x="1346637" y="283367"/>
                    <a:pt x="1346637" y="0"/>
                  </a:cubicBezTo>
                  <a:lnTo>
                    <a:pt x="1526410" y="0"/>
                  </a:lnTo>
                  <a:cubicBezTo>
                    <a:pt x="1604119" y="0"/>
                    <a:pt x="1667114" y="62996"/>
                    <a:pt x="1667114" y="140705"/>
                  </a:cubicBezTo>
                  <a:lnTo>
                    <a:pt x="1667114" y="2719097"/>
                  </a:lnTo>
                  <a:cubicBezTo>
                    <a:pt x="1667114" y="2796806"/>
                    <a:pt x="1604119" y="2859801"/>
                    <a:pt x="1526410" y="2859801"/>
                  </a:cubicBezTo>
                  <a:lnTo>
                    <a:pt x="140705" y="2859801"/>
                  </a:lnTo>
                  <a:cubicBezTo>
                    <a:pt x="62996" y="2859801"/>
                    <a:pt x="0" y="2796806"/>
                    <a:pt x="0" y="2719097"/>
                  </a:cubicBezTo>
                  <a:lnTo>
                    <a:pt x="0" y="140705"/>
                  </a:lnTo>
                  <a:cubicBezTo>
                    <a:pt x="0" y="62996"/>
                    <a:pt x="62996" y="0"/>
                    <a:pt x="140705" y="0"/>
                  </a:cubicBezTo>
                  <a:close/>
                </a:path>
              </a:pathLst>
            </a:cu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a:latin typeface="Times New Roman" panose="02020603050405020304" pitchFamily="18" charset="0"/>
                <a:cs typeface="Times New Roman" panose="02020603050405020304" pitchFamily="18" charset="0"/>
              </a:endParaRPr>
            </a:p>
          </p:txBody>
        </p:sp>
        <p:pic>
          <p:nvPicPr>
            <p:cNvPr id="12" name="Graphic 11" descr="Customer review with solid fill">
              <a:extLst>
                <a:ext uri="{FF2B5EF4-FFF2-40B4-BE49-F238E27FC236}">
                  <a16:creationId xmlns:a16="http://schemas.microsoft.com/office/drawing/2014/main" id="{1EE31D16-8E01-699F-8333-7F78923F697E}"/>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5263847" y="1981201"/>
              <a:ext cx="685800" cy="685800"/>
            </a:xfrm>
            <a:prstGeom prst="rect">
              <a:avLst/>
            </a:prstGeom>
          </p:spPr>
        </p:pic>
        <p:sp>
          <p:nvSpPr>
            <p:cNvPr id="13" name="TextBox 71">
              <a:extLst>
                <a:ext uri="{FF2B5EF4-FFF2-40B4-BE49-F238E27FC236}">
                  <a16:creationId xmlns:a16="http://schemas.microsoft.com/office/drawing/2014/main" id="{E39CB1AD-83DB-B180-866F-8BCC85ACBB65}"/>
                </a:ext>
              </a:extLst>
            </p:cNvPr>
            <p:cNvSpPr txBox="1"/>
            <p:nvPr/>
          </p:nvSpPr>
          <p:spPr>
            <a:xfrm>
              <a:off x="4910634" y="3009901"/>
              <a:ext cx="1392226" cy="1719306"/>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Inflection points indicate the threshold for acceptable risk. A 26% default probability is considered too high to qualify as "low risk.“</a:t>
              </a:r>
            </a:p>
          </p:txBody>
        </p:sp>
      </p:grpSp>
      <p:grpSp>
        <p:nvGrpSpPr>
          <p:cNvPr id="14" name="Group 13">
            <a:extLst>
              <a:ext uri="{FF2B5EF4-FFF2-40B4-BE49-F238E27FC236}">
                <a16:creationId xmlns:a16="http://schemas.microsoft.com/office/drawing/2014/main" id="{C44653CE-8205-FB0F-3C90-2429C748A302}"/>
              </a:ext>
            </a:extLst>
          </p:cNvPr>
          <p:cNvGrpSpPr/>
          <p:nvPr/>
        </p:nvGrpSpPr>
        <p:grpSpPr>
          <a:xfrm>
            <a:off x="9079417" y="1229262"/>
            <a:ext cx="2779646" cy="5052971"/>
            <a:chOff x="6848231" y="1981201"/>
            <a:chExt cx="1622038" cy="4315551"/>
          </a:xfrm>
        </p:grpSpPr>
        <p:sp>
          <p:nvSpPr>
            <p:cNvPr id="15" name="Freeform: Shape 14">
              <a:extLst>
                <a:ext uri="{FF2B5EF4-FFF2-40B4-BE49-F238E27FC236}">
                  <a16:creationId xmlns:a16="http://schemas.microsoft.com/office/drawing/2014/main" id="{E6A3B1E7-2B6B-DC27-C75C-844D76ACE2EF}"/>
                </a:ext>
              </a:extLst>
            </p:cNvPr>
            <p:cNvSpPr/>
            <p:nvPr/>
          </p:nvSpPr>
          <p:spPr>
            <a:xfrm>
              <a:off x="6848231" y="2324101"/>
              <a:ext cx="1622038" cy="3628988"/>
            </a:xfrm>
            <a:custGeom>
              <a:avLst/>
              <a:gdLst>
                <a:gd name="connsiteX0" fmla="*/ 140705 w 1667114"/>
                <a:gd name="connsiteY0" fmla="*/ 0 h 2859801"/>
                <a:gd name="connsiteX1" fmla="*/ 320477 w 1667114"/>
                <a:gd name="connsiteY1" fmla="*/ 0 h 2859801"/>
                <a:gd name="connsiteX2" fmla="*/ 833557 w 1667114"/>
                <a:gd name="connsiteY2" fmla="*/ 513080 h 2859801"/>
                <a:gd name="connsiteX3" fmla="*/ 1346637 w 1667114"/>
                <a:gd name="connsiteY3" fmla="*/ 0 h 2859801"/>
                <a:gd name="connsiteX4" fmla="*/ 1526410 w 1667114"/>
                <a:gd name="connsiteY4" fmla="*/ 0 h 2859801"/>
                <a:gd name="connsiteX5" fmla="*/ 1667114 w 1667114"/>
                <a:gd name="connsiteY5" fmla="*/ 140705 h 2859801"/>
                <a:gd name="connsiteX6" fmla="*/ 1667114 w 1667114"/>
                <a:gd name="connsiteY6" fmla="*/ 643387 h 2859801"/>
                <a:gd name="connsiteX7" fmla="*/ 1667114 w 1667114"/>
                <a:gd name="connsiteY7" fmla="*/ 2216415 h 2859801"/>
                <a:gd name="connsiteX8" fmla="*/ 1667114 w 1667114"/>
                <a:gd name="connsiteY8" fmla="*/ 2719097 h 2859801"/>
                <a:gd name="connsiteX9" fmla="*/ 1526410 w 1667114"/>
                <a:gd name="connsiteY9" fmla="*/ 2859801 h 2859801"/>
                <a:gd name="connsiteX10" fmla="*/ 140705 w 1667114"/>
                <a:gd name="connsiteY10" fmla="*/ 2859801 h 2859801"/>
                <a:gd name="connsiteX11" fmla="*/ 0 w 1667114"/>
                <a:gd name="connsiteY11" fmla="*/ 2719097 h 2859801"/>
                <a:gd name="connsiteX12" fmla="*/ 0 w 1667114"/>
                <a:gd name="connsiteY12" fmla="*/ 2216415 h 2859801"/>
                <a:gd name="connsiteX13" fmla="*/ 0 w 1667114"/>
                <a:gd name="connsiteY13" fmla="*/ 643387 h 2859801"/>
                <a:gd name="connsiteX14" fmla="*/ 0 w 1667114"/>
                <a:gd name="connsiteY14" fmla="*/ 140705 h 2859801"/>
                <a:gd name="connsiteX15" fmla="*/ 140705 w 1667114"/>
                <a:gd name="connsiteY15" fmla="*/ 0 h 2859801"/>
                <a:gd name="connsiteX0" fmla="*/ 140705 w 1667114"/>
                <a:gd name="connsiteY0" fmla="*/ 0 h 2859801"/>
                <a:gd name="connsiteX1" fmla="*/ 320477 w 1667114"/>
                <a:gd name="connsiteY1" fmla="*/ 0 h 2859801"/>
                <a:gd name="connsiteX2" fmla="*/ 833557 w 1667114"/>
                <a:gd name="connsiteY2" fmla="*/ 513080 h 2859801"/>
                <a:gd name="connsiteX3" fmla="*/ 1346637 w 1667114"/>
                <a:gd name="connsiteY3" fmla="*/ 0 h 2859801"/>
                <a:gd name="connsiteX4" fmla="*/ 1526410 w 1667114"/>
                <a:gd name="connsiteY4" fmla="*/ 0 h 2859801"/>
                <a:gd name="connsiteX5" fmla="*/ 1667114 w 1667114"/>
                <a:gd name="connsiteY5" fmla="*/ 140705 h 2859801"/>
                <a:gd name="connsiteX6" fmla="*/ 1667114 w 1667114"/>
                <a:gd name="connsiteY6" fmla="*/ 643387 h 2859801"/>
                <a:gd name="connsiteX7" fmla="*/ 1667114 w 1667114"/>
                <a:gd name="connsiteY7" fmla="*/ 2216415 h 2859801"/>
                <a:gd name="connsiteX8" fmla="*/ 1667114 w 1667114"/>
                <a:gd name="connsiteY8" fmla="*/ 2719097 h 2859801"/>
                <a:gd name="connsiteX9" fmla="*/ 1526410 w 1667114"/>
                <a:gd name="connsiteY9" fmla="*/ 2859801 h 2859801"/>
                <a:gd name="connsiteX10" fmla="*/ 140705 w 1667114"/>
                <a:gd name="connsiteY10" fmla="*/ 2859801 h 2859801"/>
                <a:gd name="connsiteX11" fmla="*/ 0 w 1667114"/>
                <a:gd name="connsiteY11" fmla="*/ 2719097 h 2859801"/>
                <a:gd name="connsiteX12" fmla="*/ 0 w 1667114"/>
                <a:gd name="connsiteY12" fmla="*/ 643387 h 2859801"/>
                <a:gd name="connsiteX13" fmla="*/ 0 w 1667114"/>
                <a:gd name="connsiteY13" fmla="*/ 140705 h 2859801"/>
                <a:gd name="connsiteX14" fmla="*/ 140705 w 1667114"/>
                <a:gd name="connsiteY14" fmla="*/ 0 h 2859801"/>
                <a:gd name="connsiteX0" fmla="*/ 140705 w 1667114"/>
                <a:gd name="connsiteY0" fmla="*/ 0 h 2859801"/>
                <a:gd name="connsiteX1" fmla="*/ 320477 w 1667114"/>
                <a:gd name="connsiteY1" fmla="*/ 0 h 2859801"/>
                <a:gd name="connsiteX2" fmla="*/ 833557 w 1667114"/>
                <a:gd name="connsiteY2" fmla="*/ 513080 h 2859801"/>
                <a:gd name="connsiteX3" fmla="*/ 1346637 w 1667114"/>
                <a:gd name="connsiteY3" fmla="*/ 0 h 2859801"/>
                <a:gd name="connsiteX4" fmla="*/ 1526410 w 1667114"/>
                <a:gd name="connsiteY4" fmla="*/ 0 h 2859801"/>
                <a:gd name="connsiteX5" fmla="*/ 1667114 w 1667114"/>
                <a:gd name="connsiteY5" fmla="*/ 140705 h 2859801"/>
                <a:gd name="connsiteX6" fmla="*/ 1667114 w 1667114"/>
                <a:gd name="connsiteY6" fmla="*/ 643387 h 2859801"/>
                <a:gd name="connsiteX7" fmla="*/ 1667114 w 1667114"/>
                <a:gd name="connsiteY7" fmla="*/ 2216415 h 2859801"/>
                <a:gd name="connsiteX8" fmla="*/ 1667114 w 1667114"/>
                <a:gd name="connsiteY8" fmla="*/ 2719097 h 2859801"/>
                <a:gd name="connsiteX9" fmla="*/ 1526410 w 1667114"/>
                <a:gd name="connsiteY9" fmla="*/ 2859801 h 2859801"/>
                <a:gd name="connsiteX10" fmla="*/ 140705 w 1667114"/>
                <a:gd name="connsiteY10" fmla="*/ 2859801 h 2859801"/>
                <a:gd name="connsiteX11" fmla="*/ 0 w 1667114"/>
                <a:gd name="connsiteY11" fmla="*/ 2719097 h 2859801"/>
                <a:gd name="connsiteX12" fmla="*/ 0 w 1667114"/>
                <a:gd name="connsiteY12" fmla="*/ 140705 h 2859801"/>
                <a:gd name="connsiteX13" fmla="*/ 140705 w 1667114"/>
                <a:gd name="connsiteY13" fmla="*/ 0 h 2859801"/>
                <a:gd name="connsiteX0" fmla="*/ 140705 w 1667114"/>
                <a:gd name="connsiteY0" fmla="*/ 0 h 2859801"/>
                <a:gd name="connsiteX1" fmla="*/ 320477 w 1667114"/>
                <a:gd name="connsiteY1" fmla="*/ 0 h 2859801"/>
                <a:gd name="connsiteX2" fmla="*/ 833557 w 1667114"/>
                <a:gd name="connsiteY2" fmla="*/ 513080 h 2859801"/>
                <a:gd name="connsiteX3" fmla="*/ 1346637 w 1667114"/>
                <a:gd name="connsiteY3" fmla="*/ 0 h 2859801"/>
                <a:gd name="connsiteX4" fmla="*/ 1526410 w 1667114"/>
                <a:gd name="connsiteY4" fmla="*/ 0 h 2859801"/>
                <a:gd name="connsiteX5" fmla="*/ 1667114 w 1667114"/>
                <a:gd name="connsiteY5" fmla="*/ 140705 h 2859801"/>
                <a:gd name="connsiteX6" fmla="*/ 1667114 w 1667114"/>
                <a:gd name="connsiteY6" fmla="*/ 2216415 h 2859801"/>
                <a:gd name="connsiteX7" fmla="*/ 1667114 w 1667114"/>
                <a:gd name="connsiteY7" fmla="*/ 2719097 h 2859801"/>
                <a:gd name="connsiteX8" fmla="*/ 1526410 w 1667114"/>
                <a:gd name="connsiteY8" fmla="*/ 2859801 h 2859801"/>
                <a:gd name="connsiteX9" fmla="*/ 140705 w 1667114"/>
                <a:gd name="connsiteY9" fmla="*/ 2859801 h 2859801"/>
                <a:gd name="connsiteX10" fmla="*/ 0 w 1667114"/>
                <a:gd name="connsiteY10" fmla="*/ 2719097 h 2859801"/>
                <a:gd name="connsiteX11" fmla="*/ 0 w 1667114"/>
                <a:gd name="connsiteY11" fmla="*/ 140705 h 2859801"/>
                <a:gd name="connsiteX12" fmla="*/ 140705 w 1667114"/>
                <a:gd name="connsiteY12" fmla="*/ 0 h 2859801"/>
                <a:gd name="connsiteX0" fmla="*/ 140705 w 1667114"/>
                <a:gd name="connsiteY0" fmla="*/ 0 h 2859801"/>
                <a:gd name="connsiteX1" fmla="*/ 320477 w 1667114"/>
                <a:gd name="connsiteY1" fmla="*/ 0 h 2859801"/>
                <a:gd name="connsiteX2" fmla="*/ 833557 w 1667114"/>
                <a:gd name="connsiteY2" fmla="*/ 513080 h 2859801"/>
                <a:gd name="connsiteX3" fmla="*/ 1346637 w 1667114"/>
                <a:gd name="connsiteY3" fmla="*/ 0 h 2859801"/>
                <a:gd name="connsiteX4" fmla="*/ 1526410 w 1667114"/>
                <a:gd name="connsiteY4" fmla="*/ 0 h 2859801"/>
                <a:gd name="connsiteX5" fmla="*/ 1667114 w 1667114"/>
                <a:gd name="connsiteY5" fmla="*/ 140705 h 2859801"/>
                <a:gd name="connsiteX6" fmla="*/ 1667114 w 1667114"/>
                <a:gd name="connsiteY6" fmla="*/ 2719097 h 2859801"/>
                <a:gd name="connsiteX7" fmla="*/ 1526410 w 1667114"/>
                <a:gd name="connsiteY7" fmla="*/ 2859801 h 2859801"/>
                <a:gd name="connsiteX8" fmla="*/ 140705 w 1667114"/>
                <a:gd name="connsiteY8" fmla="*/ 2859801 h 2859801"/>
                <a:gd name="connsiteX9" fmla="*/ 0 w 1667114"/>
                <a:gd name="connsiteY9" fmla="*/ 2719097 h 2859801"/>
                <a:gd name="connsiteX10" fmla="*/ 0 w 1667114"/>
                <a:gd name="connsiteY10" fmla="*/ 140705 h 2859801"/>
                <a:gd name="connsiteX11" fmla="*/ 140705 w 1667114"/>
                <a:gd name="connsiteY11" fmla="*/ 0 h 2859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67114" h="2859801">
                  <a:moveTo>
                    <a:pt x="140705" y="0"/>
                  </a:moveTo>
                  <a:lnTo>
                    <a:pt x="320477" y="0"/>
                  </a:lnTo>
                  <a:cubicBezTo>
                    <a:pt x="320477" y="283367"/>
                    <a:pt x="550191" y="513080"/>
                    <a:pt x="833557" y="513080"/>
                  </a:cubicBezTo>
                  <a:cubicBezTo>
                    <a:pt x="1116924" y="513080"/>
                    <a:pt x="1346637" y="283367"/>
                    <a:pt x="1346637" y="0"/>
                  </a:cubicBezTo>
                  <a:lnTo>
                    <a:pt x="1526410" y="0"/>
                  </a:lnTo>
                  <a:cubicBezTo>
                    <a:pt x="1604119" y="0"/>
                    <a:pt x="1667114" y="62996"/>
                    <a:pt x="1667114" y="140705"/>
                  </a:cubicBezTo>
                  <a:lnTo>
                    <a:pt x="1667114" y="2719097"/>
                  </a:lnTo>
                  <a:cubicBezTo>
                    <a:pt x="1667114" y="2796806"/>
                    <a:pt x="1604119" y="2859801"/>
                    <a:pt x="1526410" y="2859801"/>
                  </a:cubicBezTo>
                  <a:lnTo>
                    <a:pt x="140705" y="2859801"/>
                  </a:lnTo>
                  <a:cubicBezTo>
                    <a:pt x="62996" y="2859801"/>
                    <a:pt x="0" y="2796806"/>
                    <a:pt x="0" y="2719097"/>
                  </a:cubicBezTo>
                  <a:lnTo>
                    <a:pt x="0" y="140705"/>
                  </a:lnTo>
                  <a:cubicBezTo>
                    <a:pt x="0" y="62996"/>
                    <a:pt x="62996" y="0"/>
                    <a:pt x="140705" y="0"/>
                  </a:cubicBezTo>
                  <a:close/>
                </a:path>
              </a:pathLst>
            </a:cu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a:latin typeface="Times New Roman" panose="02020603050405020304" pitchFamily="18" charset="0"/>
                <a:cs typeface="Times New Roman" panose="02020603050405020304" pitchFamily="18" charset="0"/>
              </a:endParaRPr>
            </a:p>
          </p:txBody>
        </p:sp>
        <p:pic>
          <p:nvPicPr>
            <p:cNvPr id="16" name="Graphic 15" descr="Rocket with solid fill">
              <a:extLst>
                <a:ext uri="{FF2B5EF4-FFF2-40B4-BE49-F238E27FC236}">
                  <a16:creationId xmlns:a16="http://schemas.microsoft.com/office/drawing/2014/main" id="{7465924F-63DA-10BC-06BF-E37321F75D03}"/>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7338889" y="1981201"/>
              <a:ext cx="685800" cy="685800"/>
            </a:xfrm>
            <a:prstGeom prst="rect">
              <a:avLst/>
            </a:prstGeom>
          </p:spPr>
        </p:pic>
        <p:sp>
          <p:nvSpPr>
            <p:cNvPr id="17" name="TextBox 71">
              <a:extLst>
                <a:ext uri="{FF2B5EF4-FFF2-40B4-BE49-F238E27FC236}">
                  <a16:creationId xmlns:a16="http://schemas.microsoft.com/office/drawing/2014/main" id="{222FC8EA-61B8-0021-68F2-806052927E2B}"/>
                </a:ext>
              </a:extLst>
            </p:cNvPr>
            <p:cNvSpPr txBox="1"/>
            <p:nvPr/>
          </p:nvSpPr>
          <p:spPr>
            <a:xfrm>
              <a:off x="6985676" y="2968501"/>
              <a:ext cx="1392226" cy="3328251"/>
            </a:xfrm>
            <a:prstGeom prst="rect">
              <a:avLst/>
            </a:prstGeom>
            <a:noFill/>
          </p:spPr>
          <p:txBody>
            <a:bodyPr wrap="square" lIns="0" r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The TPM shows that a company in a hedge state won't jump directly to a high-risk (Ponzi) state but will move through an intermediate risk state. This allows investors time to assess and decide before withdrawing.</a:t>
              </a:r>
              <a:endParaRPr lang="en-IN" dirty="0">
                <a:latin typeface="Times New Roman" panose="02020603050405020304" pitchFamily="18" charset="0"/>
                <a:cs typeface="Times New Roman" panose="02020603050405020304" pitchFamily="18" charset="0"/>
              </a:endParaRPr>
            </a:p>
          </p:txBody>
        </p:sp>
      </p:grpSp>
      <p:sp>
        <p:nvSpPr>
          <p:cNvPr id="19" name="Rectangle 18">
            <a:extLst>
              <a:ext uri="{FF2B5EF4-FFF2-40B4-BE49-F238E27FC236}">
                <a16:creationId xmlns:a16="http://schemas.microsoft.com/office/drawing/2014/main" id="{825803A4-099D-44F5-43E8-EDD4F1E8D0DB}"/>
              </a:ext>
            </a:extLst>
          </p:cNvPr>
          <p:cNvSpPr/>
          <p:nvPr/>
        </p:nvSpPr>
        <p:spPr>
          <a:xfrm>
            <a:off x="4677182" y="226870"/>
            <a:ext cx="2837636" cy="707886"/>
          </a:xfrm>
          <a:prstGeom prst="rect">
            <a:avLst/>
          </a:prstGeom>
          <a:noFill/>
        </p:spPr>
        <p:txBody>
          <a:bodyPr wrap="none" lIns="91440" tIns="45720" rIns="91440" bIns="45720">
            <a:spAutoFit/>
          </a:bodyPr>
          <a:lstStyle/>
          <a:p>
            <a:pPr algn="ctr"/>
            <a:r>
              <a:rPr lang="en-US" sz="40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rPr>
              <a:t>Conclusions</a:t>
            </a:r>
          </a:p>
        </p:txBody>
      </p:sp>
    </p:spTree>
    <p:extLst>
      <p:ext uri="{BB962C8B-B14F-4D97-AF65-F5344CB8AC3E}">
        <p14:creationId xmlns:p14="http://schemas.microsoft.com/office/powerpoint/2010/main" val="1670442245"/>
      </p:ext>
    </p:extLst>
  </p:cSld>
  <p:clrMapOvr>
    <a:masterClrMapping/>
  </p:clrMapOvr>
  <p:transition spd="med">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4B39D1-AA14-E052-7B10-F0219670030A}"/>
              </a:ext>
            </a:extLst>
          </p:cNvPr>
          <p:cNvSpPr/>
          <p:nvPr/>
        </p:nvSpPr>
        <p:spPr>
          <a:xfrm>
            <a:off x="4118122" y="171347"/>
            <a:ext cx="2568652" cy="707886"/>
          </a:xfrm>
          <a:prstGeom prst="rect">
            <a:avLst/>
          </a:prstGeom>
          <a:noFill/>
        </p:spPr>
        <p:txBody>
          <a:bodyPr wrap="none" lIns="91440" tIns="45720" rIns="91440" bIns="45720">
            <a:spAutoFit/>
          </a:bodyPr>
          <a:lstStyle/>
          <a:p>
            <a:pPr algn="ctr"/>
            <a:r>
              <a:rPr lang="en-US" sz="40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References</a:t>
            </a:r>
            <a:endParaRPr lang="en-US" sz="40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F36EFC15-A8CD-1FC1-389E-53F06B03C622}"/>
              </a:ext>
            </a:extLst>
          </p:cNvPr>
          <p:cNvSpPr/>
          <p:nvPr/>
        </p:nvSpPr>
        <p:spPr>
          <a:xfrm>
            <a:off x="565541" y="1105287"/>
            <a:ext cx="11060918" cy="4647426"/>
          </a:xfrm>
          <a:prstGeom prst="rect">
            <a:avLst/>
          </a:prstGeom>
          <a:noFill/>
        </p:spPr>
        <p:txBody>
          <a:bodyPr wrap="square" lIns="91440" tIns="45720" rIns="91440" bIns="45720">
            <a:spAutoFit/>
          </a:bodyPr>
          <a:lstStyle/>
          <a:p>
            <a:pPr marL="457200" indent="-457200">
              <a:buFont typeface="Wingdings" panose="05000000000000000000" pitchFamily="2" charset="2"/>
              <a:buChar char="Ø"/>
            </a:pPr>
            <a:r>
              <a:rPr lang="en-US" sz="2400" b="0" i="1" cap="none" spc="0" dirty="0" err="1">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Gavira-Durón</a:t>
            </a:r>
            <a:r>
              <a:rPr lang="en-US" sz="24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Nora, Octavio Gutierrez-Vargas, and Salvador Cruz-</a:t>
            </a:r>
            <a:r>
              <a:rPr lang="en-US" sz="2400" b="0" i="1" cap="none" spc="0" dirty="0" err="1">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Aké</a:t>
            </a:r>
            <a:r>
              <a:rPr lang="en-US" sz="24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"Markov chain K-means cluster models and their use for companies’ credit quality and default probability estimation." Mathematics 9.8 (2021): 879.</a:t>
            </a:r>
          </a:p>
          <a:p>
            <a:endParaRPr lang="en-US" sz="28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https://www.investopedia.com/terms/m/mertonmodel.asp</a:t>
            </a:r>
          </a:p>
          <a:p>
            <a:endParaRPr lang="en-US" sz="28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https://www.screener.in/</a:t>
            </a:r>
          </a:p>
          <a:p>
            <a:endParaRPr lang="en-US" sz="28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https://www.investing.com/</a:t>
            </a:r>
          </a:p>
          <a:p>
            <a:endParaRPr lang="en-US" sz="28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b="0" i="1" cap="none" spc="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https://www.ibm.com/topics/k-means-clustering</a:t>
            </a:r>
          </a:p>
        </p:txBody>
      </p:sp>
    </p:spTree>
    <p:extLst>
      <p:ext uri="{BB962C8B-B14F-4D97-AF65-F5344CB8AC3E}">
        <p14:creationId xmlns:p14="http://schemas.microsoft.com/office/powerpoint/2010/main" val="4208993307"/>
      </p:ext>
    </p:extLst>
  </p:cSld>
  <p:clrMapOvr>
    <a:masterClrMapping/>
  </p:clrMapOvr>
  <p:transition spd="med">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ECB57C-0F11-FE88-E568-428013AC8753}"/>
              </a:ext>
            </a:extLst>
          </p:cNvPr>
          <p:cNvSpPr/>
          <p:nvPr/>
        </p:nvSpPr>
        <p:spPr>
          <a:xfrm>
            <a:off x="4794490" y="2721114"/>
            <a:ext cx="2603020" cy="707886"/>
          </a:xfrm>
          <a:prstGeom prst="rect">
            <a:avLst/>
          </a:prstGeom>
          <a:noFill/>
        </p:spPr>
        <p:txBody>
          <a:bodyPr wrap="none" lIns="91440" tIns="45720" rIns="91440" bIns="45720">
            <a:spAutoFit/>
          </a:bodyPr>
          <a:lstStyle/>
          <a:p>
            <a:pPr algn="ctr"/>
            <a:r>
              <a:rPr lang="en-US" sz="4000" b="1" cap="none" spc="0" dirty="0">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73705163"/>
      </p:ext>
    </p:extLst>
  </p:cSld>
  <p:clrMapOvr>
    <a:masterClrMapping/>
  </p:clrMapOvr>
  <p:transition spd="med">
    <p:pull/>
  </p:transition>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737</TotalTime>
  <Words>1078</Words>
  <Application>Microsoft Office PowerPoint</Application>
  <PresentationFormat>Widescreen</PresentationFormat>
  <Paragraphs>171</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Calibri</vt:lpstr>
      <vt:lpstr>Calibri Light</vt:lpstr>
      <vt:lpstr>Cambria Math</vt:lpstr>
      <vt:lpstr>Courier New</vt:lpstr>
      <vt:lpstr>Times New Roman</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9</cp:revision>
  <dcterms:created xsi:type="dcterms:W3CDTF">2024-11-10T13:29:51Z</dcterms:created>
  <dcterms:modified xsi:type="dcterms:W3CDTF">2024-11-12T17:13:24Z</dcterms:modified>
</cp:coreProperties>
</file>